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Avg Price (USD)</c:v>
                </c:pt>
              </c:strCache>
            </c:strRef>
          </c:tx>
          <c:spPr>
            <a:solidFill>
              <a:srgbClr val="5A9A4A"/>
            </a:solidFill>
            <a:ln w="38100" cap="flat">
              <a:solidFill>
                <a:srgbClr val="5A9A4A"/>
              </a:solidFill>
              <a:prstDash val="solid"/>
              <a:round/>
            </a:ln>
            <a:effectLst/>
          </c:spPr>
          <c:invertIfNegative val="0"/>
          <c:dLbls>
            <c:numFmt formatCode="#,##0" sourceLinked="0"/>
            <c:txPr>
              <a:bodyPr/>
              <a:lstStyle/>
              <a:p>
                <a:pPr>
                  <a:defRPr b="0" i="0" strike="noStrike" sz="1200" u="none">
                    <a:solidFill>
                      <a:srgbClr val="1A3A2A"/>
                    </a:solidFill>
                    <a:latin typeface="Arial"/>
                  </a:defRPr>
                </a:pPr>
              </a:p>
            </c:txPr>
            <c:showLegendKey val="0"/>
            <c:showVal val="1"/>
            <c:showCatName val="0"/>
            <c:showSerName val="0"/>
            <c:showPercent val="0"/>
            <c:showBubbleSize val="0"/>
            <c:showLeaderLines val="0"/>
          </c:dLbls>
          <c:marker>
            <c:symbol val="circle"/>
            <c:size val="6"/>
            <c:spPr>
              <a:solidFill>
                <a:srgbClr val="5A9A4A"/>
              </a:solidFill>
              <a:ln w="9525" cap="flat">
                <a:solidFill>
                  <a:srgbClr val="5A9A4A"/>
                </a:solidFill>
                <a:prstDash val="solid"/>
                <a:round/>
              </a:ln>
              <a:effectLst/>
            </c:spPr>
          </c:marker>
          <c:cat>
            <c:multiLvlStrRef>
              <c:f>Sheet1!$A$2:$A$5</c:f>
              <c:multiLvlStrCache>
                <c:ptCount val="4"/>
                <c:lvl>
                  <c:pt idx="0">
                    <c:v>2015</c:v>
                  </c:pt>
                  <c:pt idx="1">
                    <c:v>2016</c:v>
                  </c:pt>
                  <c:pt idx="2">
                    <c:v>2017</c:v>
                  </c:pt>
                  <c:pt idx="3">
                    <c:v>2018</c:v>
                  </c:pt>
                </c:lvl>
              </c:multiLvlStrCache>
            </c:multiLvlStrRef>
          </c:cat>
          <c:val>
            <c:numRef>
              <c:f>Sheet1!$B$2:$B$5</c:f>
              <c:numCache>
                <c:formatCode>General</c:formatCode>
                <c:ptCount val="4"/>
                <c:pt idx="0">
                  <c:v>1.38</c:v>
                </c:pt>
                <c:pt idx="1">
                  <c:v>1.34</c:v>
                </c:pt>
                <c:pt idx="2">
                  <c:v>1.52</c:v>
                </c:pt>
                <c:pt idx="3">
                  <c:v>1.35</c:v>
                </c:pt>
              </c:numCache>
            </c:numRef>
          </c:val>
          <c:smooth val="0"/>
        </c:ser>
        <c:dLbls>
          <c:numFmt formatCode="#,##0" sourceLinked="0"/>
          <c:txPr>
            <a:bodyPr/>
            <a:lstStyle/>
            <a:p>
              <a:pPr>
                <a:defRPr b="0" i="0" strike="noStrike" sz="1200" u="none">
                  <a:solidFill>
                    <a:srgbClr val="1A3A2A"/>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8"/>
          <c:min val="1"/>
        </c:scaling>
        <c:delete val="0"/>
        <c:axPos val="l"/>
        <c:majorGridlines>
          <c:spPr>
            <a:ln w="6350" cap="flat">
              <a:solidFill>
                <a:srgbClr val="DDEE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Price (USD)</c:v>
                </c:pt>
              </c:strCache>
            </c:strRef>
          </c:tx>
          <c:spPr>
            <a:solidFill>
              <a:srgbClr val="3498DB"/>
            </a:solidFill>
            <a:effectLst/>
          </c:spPr>
          <c:invertIfNegative val="0"/>
          <c:dLbls>
            <c:numFmt formatCode="#,##0" sourceLinked="0"/>
            <c:txPr>
              <a:bodyPr/>
              <a:lstStyle/>
              <a:p>
                <a:pPr>
                  <a:defRPr b="0" i="0" strike="noStrike" sz="1200" u="none">
                    <a:solidFill>
                      <a:srgbClr val="1A3A2A"/>
                    </a:solidFill>
                    <a:latin typeface="Arial"/>
                  </a:defRPr>
                </a:pPr>
              </a:p>
            </c:txPr>
            <c:showLegendKey val="0"/>
            <c:showVal val="1"/>
            <c:showCatName val="0"/>
            <c:showSerName val="0"/>
            <c:showPercent val="0"/>
            <c:showBubbleSize val="0"/>
            <c:showLeaderLines val="0"/>
          </c:dLbls>
          <c:dPt>
            <c:idx val="0"/>
            <c:invertIfNegative val="0"/>
            <c:bubble3D val="0"/>
            <c:spPr>
              <a:solidFill>
                <a:srgbClr val="3498DB"/>
              </a:solidFill>
              <a:effectLst/>
            </c:spPr>
          </c:dPt>
          <c:dPt>
            <c:idx val="1"/>
            <c:invertIfNegative val="0"/>
            <c:bubble3D val="0"/>
            <c:spPr>
              <a:solidFill>
                <a:srgbClr val="3498DB"/>
              </a:solidFill>
              <a:effectLst/>
            </c:spPr>
          </c:dPt>
          <c:dPt>
            <c:idx val="2"/>
            <c:invertIfNegative val="0"/>
            <c:bubble3D val="0"/>
            <c:spPr>
              <a:solidFill>
                <a:srgbClr val="3498DB"/>
              </a:solidFill>
              <a:effectLst/>
            </c:spPr>
          </c:dPt>
          <c:dPt>
            <c:idx val="3"/>
            <c:invertIfNegative val="0"/>
            <c:bubble3D val="0"/>
            <c:spPr>
              <a:solidFill>
                <a:srgbClr val="5A9A4A"/>
              </a:solidFill>
              <a:effectLst/>
            </c:spPr>
          </c:dPt>
          <c:dPt>
            <c:idx val="4"/>
            <c:invertIfNegative val="0"/>
            <c:bubble3D val="0"/>
            <c:spPr>
              <a:solidFill>
                <a:srgbClr val="5A9A4A"/>
              </a:solidFill>
              <a:effectLst/>
            </c:spPr>
          </c:dPt>
          <c:dPt>
            <c:idx val="5"/>
            <c:invertIfNegative val="0"/>
            <c:bubble3D val="0"/>
            <c:spPr>
              <a:solidFill>
                <a:srgbClr val="E07B39"/>
              </a:solidFill>
              <a:effectLst/>
            </c:spPr>
          </c:dPt>
          <c:dPt>
            <c:idx val="6"/>
            <c:invertIfNegative val="0"/>
            <c:bubble3D val="0"/>
            <c:spPr>
              <a:solidFill>
                <a:srgbClr val="E07B39"/>
              </a:solidFill>
              <a:effectLst/>
            </c:spPr>
          </c:dPt>
          <c:dPt>
            <c:idx val="7"/>
            <c:invertIfNegative val="0"/>
            <c:bubble3D val="0"/>
            <c:spPr>
              <a:solidFill>
                <a:srgbClr val="C0392B"/>
              </a:solidFill>
              <a:effectLst/>
            </c:spPr>
          </c:dPt>
          <c:dPt>
            <c:idx val="8"/>
            <c:invertIfNegative val="0"/>
            <c:bubble3D val="0"/>
            <c:spPr>
              <a:solidFill>
                <a:srgbClr val="C0392B"/>
              </a:solidFill>
              <a:effectLst/>
            </c:spPr>
          </c:dPt>
          <c:dPt>
            <c:idx val="9"/>
            <c:invertIfNegative val="0"/>
            <c:bubble3D val="0"/>
            <c:spPr>
              <a:solidFill>
                <a:srgbClr val="C0392B"/>
              </a:solidFill>
              <a:effectLst/>
            </c:spPr>
          </c:dPt>
          <c:dPt>
            <c:idx val="10"/>
            <c:invertIfNegative val="0"/>
            <c:bubble3D val="0"/>
            <c:spPr>
              <a:solidFill>
                <a:srgbClr val="E07B39"/>
              </a:solidFill>
              <a:effectLst/>
            </c:spPr>
          </c:dPt>
          <c:dPt>
            <c:idx val="11"/>
            <c:invertIfNegative val="0"/>
            <c:bubble3D val="0"/>
            <c:spPr>
              <a:solidFill>
                <a:srgbClr val="3498DB"/>
              </a:solidFill>
              <a:effectLst/>
            </c:spPr>
          </c:dPt>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1.32</c:v>
                </c:pt>
                <c:pt idx="1">
                  <c:v>1.27</c:v>
                </c:pt>
                <c:pt idx="2">
                  <c:v>1.33</c:v>
                </c:pt>
                <c:pt idx="3">
                  <c:v>1.36</c:v>
                </c:pt>
                <c:pt idx="4">
                  <c:v>1.36</c:v>
                </c:pt>
                <c:pt idx="5">
                  <c:v>1.41</c:v>
                </c:pt>
                <c:pt idx="6">
                  <c:v>1.46</c:v>
                </c:pt>
                <c:pt idx="7">
                  <c:v>1.52</c:v>
                </c:pt>
                <c:pt idx="8">
                  <c:v>1.57</c:v>
                </c:pt>
                <c:pt idx="9">
                  <c:v>1.57</c:v>
                </c:pt>
                <c:pt idx="10">
                  <c:v>1.47</c:v>
                </c:pt>
                <c:pt idx="11">
                  <c:v>1.33</c:v>
                </c:pt>
              </c:numCache>
            </c:numRef>
          </c:val>
        </c:ser>
        <c:dLbls>
          <c:numFmt formatCode="#,##0" sourceLinked="0"/>
          <c:txPr>
            <a:bodyPr/>
            <a:lstStyle/>
            <a:p>
              <a:pPr>
                <a:defRPr b="0" i="0" strike="noStrike" sz="1200" u="none">
                  <a:solidFill>
                    <a:srgbClr val="1A3A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in val="1"/>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Avocado by PLU Size</a:t>
            </a:r>
          </a:p>
        </c:rich>
      </c:tx>
      <c:layout/>
      <c:overlay val="0"/>
    </c:title>
    <c:autoTitleDeleted val="0"/>
    <c:plotArea>
      <c:layout/>
      <c:pieChart>
        <c:varyColors val="1"/>
        <c:ser>
          <c:idx val="0"/>
          <c:order val="0"/>
          <c:tx>
            <c:strRef>
              <c:f>Sheet1!$B$1</c:f>
              <c:strCache>
                <c:ptCount val="1"/>
                <c:pt idx="0">
                  <c:v>Size</c:v>
                </c:pt>
              </c:strCache>
            </c:strRef>
          </c:tx>
          <c:spPr>
            <a:solidFill>
              <a:schemeClr val="accent1"/>
            </a:solidFill>
            <a:ln w="9525" cap="flat">
              <a:solidFill>
                <a:srgbClr val="F9F9F9"/>
              </a:solidFill>
              <a:prstDash val="solid"/>
              <a:round/>
            </a:ln>
            <a:effectLst/>
          </c:spPr>
          <c:dPt>
            <c:idx val="0"/>
            <c:bubble3D val="0"/>
            <c:spPr>
              <a:solidFill>
                <a:srgbClr val="2C6E3F"/>
              </a:solidFill>
              <a:effectLst/>
            </c:spPr>
          </c:dPt>
          <c:dPt>
            <c:idx val="1"/>
            <c:bubble3D val="0"/>
            <c:spPr>
              <a:solidFill>
                <a:srgbClr val="5A9A4A"/>
              </a:solidFill>
              <a:effectLst/>
            </c:spPr>
          </c:dPt>
          <c:dPt>
            <c:idx val="2"/>
            <c:bubble3D val="0"/>
            <c:spPr>
              <a:solidFill>
                <a:srgbClr val="8FBF4D"/>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Small/Med 4046</c:v>
                </c:pt>
                <c:pt idx="1">
                  <c:v>Large 4225</c:v>
                </c:pt>
                <c:pt idx="2">
                  <c:v>X-Large 4770</c:v>
                </c:pt>
              </c:strCache>
            </c:strRef>
          </c:cat>
          <c:val>
            <c:numRef>
              <c:f>Sheet1!$B$2:$B$4</c:f>
              <c:numCache>
                <c:ptCount val="3"/>
                <c:pt idx="0">
                  <c:v>5347</c:v>
                </c:pt>
                <c:pt idx="1">
                  <c:v>5386</c:v>
                </c:pt>
                <c:pt idx="2">
                  <c:v>417</c:v>
                </c:pt>
              </c:numCache>
            </c:numRef>
          </c:val>
        </c:ser>
        <c:firstSliceAng val="0"/>
      </c:pieChart>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Bag Format Sales</a:t>
            </a:r>
          </a:p>
        </c:rich>
      </c:tx>
      <c:layout/>
      <c:overlay val="0"/>
    </c:title>
    <c:autoTitleDeleted val="0"/>
    <c:plotArea>
      <c:layout/>
      <c:barChart>
        <c:barDir val="col"/>
        <c:grouping val="clustered"/>
        <c:varyColors val="0"/>
        <c:ser>
          <c:idx val="0"/>
          <c:order val="0"/>
          <c:tx>
            <c:strRef>
              <c:f>Sheet1!$B$1</c:f>
              <c:strCache>
                <c:ptCount val="1"/>
                <c:pt idx="0">
                  <c:v>Volume (millions)</c:v>
                </c:pt>
              </c:strCache>
            </c:strRef>
          </c:tx>
          <c:spPr>
            <a:solidFill>
              <a:srgbClr val="5A9A4A"/>
            </a:solidFill>
            <a:effectLst/>
          </c:spPr>
          <c:invertIfNegative val="0"/>
          <c:dLbls>
            <c:numFmt formatCode="#,##0" sourceLinked="0"/>
            <c:txPr>
              <a:bodyPr/>
              <a:lstStyle/>
              <a:p>
                <a:pPr>
                  <a:defRPr b="0" i="0" strike="noStrike" sz="1200" u="none">
                    <a:solidFill>
                      <a:srgbClr val="1A3A2A"/>
                    </a:solidFill>
                    <a:latin typeface="Arial"/>
                  </a:defRPr>
                </a:pPr>
              </a:p>
            </c:txPr>
            <c:showLegendKey val="0"/>
            <c:showVal val="1"/>
            <c:showCatName val="0"/>
            <c:showSerName val="0"/>
            <c:showPercent val="0"/>
            <c:showBubbleSize val="0"/>
            <c:showLeaderLines val="0"/>
          </c:dLbls>
          <c:dPt>
            <c:idx val="0"/>
            <c:invertIfNegative val="0"/>
            <c:bubble3D val="0"/>
            <c:spPr>
              <a:solidFill>
                <a:srgbClr val="5A9A4A"/>
              </a:solidFill>
              <a:effectLst/>
            </c:spPr>
          </c:dPt>
          <c:dPt>
            <c:idx val="1"/>
            <c:invertIfNegative val="0"/>
            <c:bubble3D val="0"/>
            <c:spPr>
              <a:solidFill>
                <a:srgbClr val="8FBF4D"/>
              </a:solidFill>
              <a:effectLst/>
            </c:spPr>
          </c:dPt>
          <c:cat>
            <c:multiLvlStrRef>
              <c:f>Sheet1!$A$2:$A$3</c:f>
              <c:multiLvlStrCache>
                <c:ptCount val="2"/>
                <c:lvl>
                  <c:pt idx="0">
                    <c:v>Small Bags</c:v>
                  </c:pt>
                  <c:pt idx="1">
                    <c:v>Large Bags</c:v>
                  </c:pt>
                </c:lvl>
              </c:multiLvlStrCache>
            </c:multiLvlStrRef>
          </c:cat>
          <c:val>
            <c:numRef>
              <c:f>Sheet1!$B$2:$B$3</c:f>
              <c:numCache>
                <c:formatCode>General</c:formatCode>
                <c:ptCount val="2"/>
                <c:pt idx="0">
                  <c:v>3325</c:v>
                </c:pt>
                <c:pt idx="1">
                  <c:v>992</c:v>
                </c:pt>
              </c:numCache>
            </c:numRef>
          </c:val>
        </c:ser>
        <c:dLbls>
          <c:numFmt formatCode="#,##0" sourceLinked="0"/>
          <c:txPr>
            <a:bodyPr/>
            <a:lstStyle/>
            <a:p>
              <a:pPr>
                <a:defRPr b="0" i="0" strike="noStrike" sz="1200" u="none">
                  <a:solidFill>
                    <a:srgbClr val="1A3A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Top 5 Regions by Volume</a:t>
            </a:r>
          </a:p>
        </c:rich>
      </c:tx>
      <c:layout/>
      <c:overlay val="0"/>
    </c:title>
    <c:autoTitleDeleted val="0"/>
    <c:plotArea>
      <c:layout/>
      <c:barChart>
        <c:barDir val="bar"/>
        <c:grouping val="clustered"/>
        <c:varyColors val="0"/>
        <c:ser>
          <c:idx val="0"/>
          <c:order val="0"/>
          <c:tx>
            <c:strRef>
              <c:f>Sheet1!$B$1</c:f>
              <c:strCache>
                <c:ptCount val="1"/>
                <c:pt idx="0">
                  <c:v>Total Volume (B)</c:v>
                </c:pt>
              </c:strCache>
            </c:strRef>
          </c:tx>
          <c:spPr>
            <a:solidFill>
              <a:srgbClr val="5A9A4A"/>
            </a:solidFill>
            <a:effectLst/>
          </c:spPr>
          <c:invertIfNegative val="0"/>
          <c:dLbls>
            <c:numFmt formatCode="#,##0" sourceLinked="0"/>
            <c:txPr>
              <a:bodyPr/>
              <a:lstStyle/>
              <a:p>
                <a:pPr>
                  <a:defRPr b="0" i="0" strike="noStrike" sz="1200" u="none">
                    <a:solidFill>
                      <a:srgbClr val="1A3A2A"/>
                    </a:solidFill>
                    <a:latin typeface="Arial"/>
                  </a:defRPr>
                </a:pPr>
              </a:p>
            </c:txPr>
            <c:showLegendKey val="0"/>
            <c:showVal val="1"/>
            <c:showCatName val="0"/>
            <c:showSerName val="0"/>
            <c:showPercent val="0"/>
            <c:showBubbleSize val="0"/>
            <c:showLeaderLines val="0"/>
          </c:dLbls>
          <c:dPt>
            <c:idx val="0"/>
            <c:invertIfNegative val="0"/>
            <c:bubble3D val="0"/>
            <c:spPr>
              <a:solidFill>
                <a:srgbClr val="5A9A4A"/>
              </a:solidFill>
              <a:effectLst/>
            </c:spPr>
          </c:dPt>
          <c:dPt>
            <c:idx val="1"/>
            <c:invertIfNegative val="0"/>
            <c:bubble3D val="0"/>
            <c:spPr>
              <a:solidFill>
                <a:srgbClr val="2C6E3F"/>
              </a:solidFill>
              <a:effectLst/>
            </c:spPr>
          </c:dPt>
          <c:dPt>
            <c:idx val="2"/>
            <c:invertIfNegative val="0"/>
            <c:bubble3D val="0"/>
            <c:spPr>
              <a:solidFill>
                <a:srgbClr val="1A3A2A"/>
              </a:solidFill>
              <a:effectLst/>
            </c:spPr>
          </c:dPt>
          <c:dPt>
            <c:idx val="3"/>
            <c:invertIfNegative val="0"/>
            <c:bubble3D val="0"/>
            <c:spPr>
              <a:solidFill>
                <a:srgbClr val="8FBF4D"/>
              </a:solidFill>
              <a:effectLst/>
            </c:spPr>
          </c:dPt>
          <c:dPt>
            <c:idx val="4"/>
            <c:invertIfNegative val="0"/>
            <c:bubble3D val="0"/>
            <c:spPr>
              <a:solidFill>
                <a:srgbClr val="E07B39"/>
              </a:solidFill>
              <a:effectLst/>
            </c:spPr>
          </c:dPt>
          <c:cat>
            <c:multiLvlStrRef>
              <c:f>Sheet1!$A$2:$A$6</c:f>
              <c:multiLvlStrCache>
                <c:ptCount val="5"/>
                <c:lvl>
                  <c:pt idx="0">
                    <c:v>SouthCentral</c:v>
                  </c:pt>
                  <c:pt idx="1">
                    <c:v>California</c:v>
                  </c:pt>
                  <c:pt idx="2">
                    <c:v>West</c:v>
                  </c:pt>
                  <c:pt idx="3">
                    <c:v>Southeast</c:v>
                  </c:pt>
                  <c:pt idx="4">
                    <c:v>Northeast</c:v>
                  </c:pt>
                </c:lvl>
              </c:multiLvlStrCache>
            </c:multiLvlStrRef>
          </c:cat>
          <c:val>
            <c:numRef>
              <c:f>Sheet1!$B$2:$B$6</c:f>
              <c:numCache>
                <c:formatCode>General</c:formatCode>
                <c:ptCount val="5"/>
                <c:pt idx="0">
                  <c:v>1011</c:v>
                </c:pt>
                <c:pt idx="1">
                  <c:v>1029</c:v>
                </c:pt>
                <c:pt idx="2">
                  <c:v>1087</c:v>
                </c:pt>
                <c:pt idx="3">
                  <c:v>615</c:v>
                </c:pt>
                <c:pt idx="4">
                  <c:v>713</c:v>
                </c:pt>
              </c:numCache>
            </c:numRef>
          </c:val>
        </c:ser>
        <c:dLbls>
          <c:numFmt formatCode="#,##0" sourceLinked="0"/>
          <c:txPr>
            <a:bodyPr/>
            <a:lstStyle/>
            <a:p>
              <a:pPr>
                <a:defRPr b="0" i="0" strike="noStrike" sz="1200" u="none">
                  <a:solidFill>
                    <a:srgbClr val="1A3A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A"/>
        </a:solidFill>
      </p:bgPr>
    </p:bg>
    <p:spTree>
      <p:nvGrpSpPr>
        <p:cNvPr id="1" name=""/>
        <p:cNvGrpSpPr/>
        <p:nvPr/>
      </p:nvGrpSpPr>
      <p:grpSpPr>
        <a:xfrm>
          <a:off x="0" y="0"/>
          <a:ext cx="0" cy="0"/>
          <a:chOff x="0" y="0"/>
          <a:chExt cx="0" cy="0"/>
        </a:xfrm>
      </p:grpSpPr>
      <p:sp>
        <p:nvSpPr>
          <p:cNvPr id="2" name="Shape 0"/>
          <p:cNvSpPr/>
          <p:nvPr/>
        </p:nvSpPr>
        <p:spPr>
          <a:xfrm>
            <a:off x="6217920" y="-457200"/>
            <a:ext cx="4114800" cy="4114800"/>
          </a:xfrm>
          <a:prstGeom prst="ellipse">
            <a:avLst/>
          </a:prstGeom>
          <a:solidFill>
            <a:srgbClr val="2C6E3F">
              <a:alpha val="40000"/>
            </a:srgbClr>
          </a:solidFill>
          <a:ln w="12700">
            <a:solidFill>
              <a:srgbClr val="2C6E3F"/>
            </a:solidFill>
            <a:prstDash val="solid"/>
          </a:ln>
        </p:spPr>
      </p:sp>
      <p:sp>
        <p:nvSpPr>
          <p:cNvPr id="3" name="Shape 1"/>
          <p:cNvSpPr/>
          <p:nvPr/>
        </p:nvSpPr>
        <p:spPr>
          <a:xfrm>
            <a:off x="6858000" y="0"/>
            <a:ext cx="2926080" cy="2926080"/>
          </a:xfrm>
          <a:prstGeom prst="ellipse">
            <a:avLst/>
          </a:prstGeom>
          <a:solidFill>
            <a:srgbClr val="5A9A4A">
              <a:alpha val="60000"/>
            </a:srgbClr>
          </a:solidFill>
          <a:ln w="12700">
            <a:solidFill>
              <a:srgbClr val="5A9A4A"/>
            </a:solidFill>
            <a:prstDash val="solid"/>
          </a:ln>
        </p:spPr>
      </p:sp>
      <p:sp>
        <p:nvSpPr>
          <p:cNvPr id="4" name="Text 2"/>
          <p:cNvSpPr/>
          <p:nvPr/>
        </p:nvSpPr>
        <p:spPr>
          <a:xfrm>
            <a:off x="7132320" y="274320"/>
            <a:ext cx="2286000" cy="2286000"/>
          </a:xfrm>
          <a:prstGeom prst="rect">
            <a:avLst/>
          </a:prstGeom>
          <a:noFill/>
          <a:ln/>
        </p:spPr>
        <p:txBody>
          <a:bodyPr wrap="square" rtlCol="0" anchor="ctr"/>
          <a:lstStyle/>
          <a:p>
            <a:pPr algn="ctr" indent="0" marL="0">
              <a:buNone/>
            </a:pPr>
            <a:r>
              <a:rPr lang="en-US" sz="9600" dirty="0">
                <a:solidFill>
                  <a:srgbClr val="000000"/>
                </a:solidFill>
              </a:rPr>
              <a:t>🥑</a:t>
            </a:r>
            <a:endParaRPr lang="en-US" sz="9600" dirty="0"/>
          </a:p>
        </p:txBody>
      </p:sp>
      <p:sp>
        <p:nvSpPr>
          <p:cNvPr id="5" name="Text 3"/>
          <p:cNvSpPr/>
          <p:nvPr/>
        </p:nvSpPr>
        <p:spPr>
          <a:xfrm>
            <a:off x="548640" y="1005840"/>
            <a:ext cx="5943600" cy="640080"/>
          </a:xfrm>
          <a:prstGeom prst="rect">
            <a:avLst/>
          </a:prstGeom>
          <a:noFill/>
          <a:ln/>
        </p:spPr>
        <p:txBody>
          <a:bodyPr wrap="square" lIns="0" tIns="0" rIns="0" bIns="0" rtlCol="0" anchor="ctr"/>
          <a:lstStyle/>
          <a:p>
            <a:pPr indent="0" marL="0">
              <a:buNone/>
            </a:pPr>
            <a:r>
              <a:rPr lang="en-US" sz="4400" b="1" spc="800" kern="0" dirty="0">
                <a:solidFill>
                  <a:srgbClr val="8FBF4D"/>
                </a:solidFill>
                <a:latin typeface="Calibri" pitchFamily="34" charset="0"/>
                <a:ea typeface="Calibri" pitchFamily="34" charset="-122"/>
                <a:cs typeface="Calibri" pitchFamily="34" charset="-120"/>
              </a:rPr>
              <a:t>AVOCADO</a:t>
            </a:r>
            <a:endParaRPr lang="en-US" sz="4400" dirty="0"/>
          </a:p>
        </p:txBody>
      </p:sp>
      <p:sp>
        <p:nvSpPr>
          <p:cNvPr id="6" name="Text 4"/>
          <p:cNvSpPr/>
          <p:nvPr/>
        </p:nvSpPr>
        <p:spPr>
          <a:xfrm>
            <a:off x="548640" y="1737360"/>
            <a:ext cx="5943600" cy="594360"/>
          </a:xfrm>
          <a:prstGeom prst="rect">
            <a:avLst/>
          </a:prstGeom>
          <a:noFill/>
          <a:ln/>
        </p:spPr>
        <p:txBody>
          <a:bodyPr wrap="square" lIns="0" tIns="0" rIns="0" bIns="0" rtlCol="0" anchor="ctr"/>
          <a:lstStyle/>
          <a:p>
            <a:pPr indent="0" marL="0">
              <a:buNone/>
            </a:pPr>
            <a:r>
              <a:rPr lang="en-US" sz="3200" spc="300" kern="0" dirty="0">
                <a:solidFill>
                  <a:srgbClr val="FFFFFF"/>
                </a:solidFill>
                <a:latin typeface="Calibri" pitchFamily="34" charset="0"/>
                <a:ea typeface="Calibri" pitchFamily="34" charset="-122"/>
                <a:cs typeface="Calibri" pitchFamily="34" charset="-120"/>
              </a:rPr>
              <a:t>MARKET ANALYSIS</a:t>
            </a:r>
            <a:endParaRPr lang="en-US" sz="3200" dirty="0"/>
          </a:p>
        </p:txBody>
      </p:sp>
      <p:sp>
        <p:nvSpPr>
          <p:cNvPr id="7" name="Text 5"/>
          <p:cNvSpPr/>
          <p:nvPr/>
        </p:nvSpPr>
        <p:spPr>
          <a:xfrm>
            <a:off x="548640" y="2560320"/>
            <a:ext cx="5486400" cy="365760"/>
          </a:xfrm>
          <a:prstGeom prst="rect">
            <a:avLst/>
          </a:prstGeom>
          <a:noFill/>
          <a:ln/>
        </p:spPr>
        <p:txBody>
          <a:bodyPr wrap="square" lIns="0" tIns="0" rIns="0" bIns="0" rtlCol="0" anchor="ctr"/>
          <a:lstStyle/>
          <a:p>
            <a:pPr indent="0" marL="0">
              <a:buNone/>
            </a:pPr>
            <a:r>
              <a:rPr lang="en-US" sz="1400" dirty="0">
                <a:solidFill>
                  <a:srgbClr val="5A9A4A"/>
                </a:solidFill>
                <a:latin typeface="Calibri" pitchFamily="34" charset="0"/>
                <a:ea typeface="Calibri" pitchFamily="34" charset="-122"/>
                <a:cs typeface="Calibri" pitchFamily="34" charset="-120"/>
              </a:rPr>
              <a:t>U.S. Retail Trends  •  2015–2018</a:t>
            </a:r>
            <a:endParaRPr lang="en-US" sz="1400" dirty="0"/>
          </a:p>
        </p:txBody>
      </p:sp>
      <p:sp>
        <p:nvSpPr>
          <p:cNvPr id="8" name="Shape 6"/>
          <p:cNvSpPr/>
          <p:nvPr/>
        </p:nvSpPr>
        <p:spPr>
          <a:xfrm>
            <a:off x="0" y="4663440"/>
            <a:ext cx="9144000" cy="480060"/>
          </a:xfrm>
          <a:prstGeom prst="rect">
            <a:avLst/>
          </a:prstGeom>
          <a:solidFill>
            <a:srgbClr val="2C6E3F"/>
          </a:solidFill>
          <a:ln w="12700">
            <a:solidFill>
              <a:srgbClr val="2C6E3F"/>
            </a:solidFill>
            <a:prstDash val="solid"/>
          </a:ln>
        </p:spPr>
      </p:sp>
      <p:sp>
        <p:nvSpPr>
          <p:cNvPr id="9" name="Text 7"/>
          <p:cNvSpPr/>
          <p:nvPr/>
        </p:nvSpPr>
        <p:spPr>
          <a:xfrm>
            <a:off x="274320" y="4709160"/>
            <a:ext cx="8595360" cy="365760"/>
          </a:xfrm>
          <a:prstGeom prst="rect">
            <a:avLst/>
          </a:prstGeom>
          <a:noFill/>
          <a:ln/>
        </p:spPr>
        <p:txBody>
          <a:bodyPr wrap="square" lIns="0" tIns="0" rIns="0" bIns="0" rtlCol="0" anchor="ctr"/>
          <a:lstStyle/>
          <a:p>
            <a:pPr indent="0" marL="0">
              <a:buNone/>
            </a:pPr>
            <a:r>
              <a:rPr lang="en-US" sz="1100" dirty="0">
                <a:solidFill>
                  <a:srgbClr val="F4F1E8"/>
                </a:solidFill>
                <a:latin typeface="Calibri" pitchFamily="34" charset="0"/>
                <a:ea typeface="Calibri" pitchFamily="34" charset="-122"/>
                <a:cs typeface="Calibri" pitchFamily="34" charset="-120"/>
              </a:rPr>
              <a:t>Avocado Dataset Analysis  |  10 Analytical Sheets  |  54 U.S. Regions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w="12700">
            <a:solidFill>
              <a:srgbClr val="1A3A2A"/>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DATASET AT A GLANCE</a:t>
            </a:r>
            <a:endParaRPr lang="en-US" sz="2800" dirty="0"/>
          </a:p>
        </p:txBody>
      </p:sp>
      <p:sp>
        <p:nvSpPr>
          <p:cNvPr id="4" name="Shape 2"/>
          <p:cNvSpPr/>
          <p:nvPr/>
        </p:nvSpPr>
        <p:spPr>
          <a:xfrm>
            <a:off x="320040" y="1280160"/>
            <a:ext cx="1965960" cy="2194560"/>
          </a:xfrm>
          <a:prstGeom prst="rect">
            <a:avLst/>
          </a:prstGeom>
          <a:solidFill>
            <a:srgbClr val="1A3A2A"/>
          </a:solidFill>
          <a:ln w="12700">
            <a:solidFill>
              <a:srgbClr val="1A3A2A"/>
            </a:solidFill>
            <a:prstDash val="solid"/>
          </a:ln>
          <a:effectLst>
            <a:outerShdw sx="100000" sy="100000" kx="0" ky="0" algn="bl" rotWithShape="0" blurRad="101600" dist="38100" dir="8100000">
              <a:srgbClr val="000000">
                <a:alpha val="15000"/>
              </a:srgbClr>
            </a:outerShdw>
          </a:effectLst>
        </p:spPr>
      </p:sp>
      <p:sp>
        <p:nvSpPr>
          <p:cNvPr id="5" name="Text 3"/>
          <p:cNvSpPr/>
          <p:nvPr/>
        </p:nvSpPr>
        <p:spPr>
          <a:xfrm>
            <a:off x="320040" y="1371600"/>
            <a:ext cx="196596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320040" y="1965960"/>
            <a:ext cx="1965960" cy="594360"/>
          </a:xfrm>
          <a:prstGeom prst="rect">
            <a:avLst/>
          </a:prstGeom>
          <a:noFill/>
          <a:ln/>
        </p:spPr>
        <p:txBody>
          <a:bodyPr wrap="square" lIns="0" tIns="0" rIns="0" bIns="0" rtlCol="0" anchor="ctr"/>
          <a:lstStyle/>
          <a:p>
            <a:pPr algn="ctr" indent="0" marL="0">
              <a:buNone/>
            </a:pPr>
            <a:r>
              <a:rPr lang="en-US" sz="2600" b="1" dirty="0">
                <a:solidFill>
                  <a:srgbClr val="8FBF4D"/>
                </a:solidFill>
                <a:latin typeface="Calibri" pitchFamily="34" charset="0"/>
                <a:ea typeface="Calibri" pitchFamily="34" charset="-122"/>
                <a:cs typeface="Calibri" pitchFamily="34" charset="-120"/>
              </a:rPr>
              <a:t>15,523B</a:t>
            </a:r>
            <a:endParaRPr lang="en-US" sz="2600" dirty="0"/>
          </a:p>
        </p:txBody>
      </p:sp>
      <p:sp>
        <p:nvSpPr>
          <p:cNvPr id="7" name="Text 5"/>
          <p:cNvSpPr/>
          <p:nvPr/>
        </p:nvSpPr>
        <p:spPr>
          <a:xfrm>
            <a:off x="320040" y="2560320"/>
            <a:ext cx="1965960" cy="685800"/>
          </a:xfrm>
          <a:prstGeom prst="rect">
            <a:avLst/>
          </a:prstGeom>
          <a:noFill/>
          <a:ln/>
        </p:spPr>
        <p:txBody>
          <a:bodyPr wrap="square" lIns="0" tIns="0" rIns="0" bIns="0" rtlCol="0" anchor="ctr"/>
          <a:lstStyle/>
          <a:p>
            <a:pPr algn="ctr" indent="0" marL="0">
              <a:buNone/>
            </a:pPr>
            <a:r>
              <a:rPr lang="en-US" sz="1200" dirty="0">
                <a:solidFill>
                  <a:srgbClr val="F4F1E8"/>
                </a:solidFill>
                <a:latin typeface="Calibri" pitchFamily="34" charset="0"/>
                <a:ea typeface="Calibri" pitchFamily="34" charset="-122"/>
                <a:cs typeface="Calibri" pitchFamily="34" charset="-120"/>
              </a:rPr>
              <a:t>Units Tracked</a:t>
            </a:r>
            <a:endParaRPr lang="en-US" sz="1200" dirty="0"/>
          </a:p>
        </p:txBody>
      </p:sp>
      <p:sp>
        <p:nvSpPr>
          <p:cNvPr id="8" name="Shape 6"/>
          <p:cNvSpPr/>
          <p:nvPr/>
        </p:nvSpPr>
        <p:spPr>
          <a:xfrm>
            <a:off x="2468880" y="1280160"/>
            <a:ext cx="1965960" cy="2194560"/>
          </a:xfrm>
          <a:prstGeom prst="rect">
            <a:avLst/>
          </a:prstGeom>
          <a:solidFill>
            <a:srgbClr val="2C6E3F"/>
          </a:solidFill>
          <a:ln w="12700">
            <a:solidFill>
              <a:srgbClr val="1A3A2A"/>
            </a:solidFill>
            <a:prstDash val="solid"/>
          </a:ln>
          <a:effectLst>
            <a:outerShdw sx="100000" sy="100000" kx="0" ky="0" algn="bl" rotWithShape="0" blurRad="101600" dist="38100" dir="8100000">
              <a:srgbClr val="000000">
                <a:alpha val="15000"/>
              </a:srgbClr>
            </a:outerShdw>
          </a:effectLst>
        </p:spPr>
      </p:sp>
      <p:sp>
        <p:nvSpPr>
          <p:cNvPr id="9" name="Text 7"/>
          <p:cNvSpPr/>
          <p:nvPr/>
        </p:nvSpPr>
        <p:spPr>
          <a:xfrm>
            <a:off x="2468880" y="1371600"/>
            <a:ext cx="196596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2468880" y="1965960"/>
            <a:ext cx="1965960" cy="594360"/>
          </a:xfrm>
          <a:prstGeom prst="rect">
            <a:avLst/>
          </a:prstGeom>
          <a:noFill/>
          <a:ln/>
        </p:spPr>
        <p:txBody>
          <a:bodyPr wrap="square" lIns="0" tIns="0" rIns="0" bIns="0" rtlCol="0" anchor="ctr"/>
          <a:lstStyle/>
          <a:p>
            <a:pPr algn="ctr" indent="0" marL="0">
              <a:buNone/>
            </a:pPr>
            <a:r>
              <a:rPr lang="en-US" sz="2600" b="1" dirty="0">
                <a:solidFill>
                  <a:srgbClr val="8FBF4D"/>
                </a:solidFill>
                <a:latin typeface="Calibri" pitchFamily="34" charset="0"/>
                <a:ea typeface="Calibri" pitchFamily="34" charset="-122"/>
                <a:cs typeface="Calibri" pitchFamily="34" charset="-120"/>
              </a:rPr>
              <a:t>54</a:t>
            </a:r>
            <a:endParaRPr lang="en-US" sz="2600" dirty="0"/>
          </a:p>
        </p:txBody>
      </p:sp>
      <p:sp>
        <p:nvSpPr>
          <p:cNvPr id="11" name="Text 9"/>
          <p:cNvSpPr/>
          <p:nvPr/>
        </p:nvSpPr>
        <p:spPr>
          <a:xfrm>
            <a:off x="2468880" y="2560320"/>
            <a:ext cx="1965960" cy="685800"/>
          </a:xfrm>
          <a:prstGeom prst="rect">
            <a:avLst/>
          </a:prstGeom>
          <a:noFill/>
          <a:ln/>
        </p:spPr>
        <p:txBody>
          <a:bodyPr wrap="square" lIns="0" tIns="0" rIns="0" bIns="0" rtlCol="0" anchor="ctr"/>
          <a:lstStyle/>
          <a:p>
            <a:pPr algn="ctr" indent="0" marL="0">
              <a:buNone/>
            </a:pPr>
            <a:r>
              <a:rPr lang="en-US" sz="1200" dirty="0">
                <a:solidFill>
                  <a:srgbClr val="F4F1E8"/>
                </a:solidFill>
                <a:latin typeface="Calibri" pitchFamily="34" charset="0"/>
                <a:ea typeface="Calibri" pitchFamily="34" charset="-122"/>
                <a:cs typeface="Calibri" pitchFamily="34" charset="-120"/>
              </a:rPr>
              <a:t>U.S. Regions</a:t>
            </a:r>
            <a:endParaRPr lang="en-US" sz="1200" dirty="0"/>
          </a:p>
        </p:txBody>
      </p:sp>
      <p:sp>
        <p:nvSpPr>
          <p:cNvPr id="12" name="Shape 10"/>
          <p:cNvSpPr/>
          <p:nvPr/>
        </p:nvSpPr>
        <p:spPr>
          <a:xfrm>
            <a:off x="4617720" y="1280160"/>
            <a:ext cx="1965960" cy="2194560"/>
          </a:xfrm>
          <a:prstGeom prst="rect">
            <a:avLst/>
          </a:prstGeom>
          <a:solidFill>
            <a:srgbClr val="1A3A2A"/>
          </a:solidFill>
          <a:ln w="12700">
            <a:solidFill>
              <a:srgbClr val="1A3A2A"/>
            </a:solidFill>
            <a:prstDash val="solid"/>
          </a:ln>
          <a:effectLst>
            <a:outerShdw sx="100000" sy="100000" kx="0" ky="0" algn="bl" rotWithShape="0" blurRad="101600" dist="38100" dir="8100000">
              <a:srgbClr val="000000">
                <a:alpha val="15000"/>
              </a:srgbClr>
            </a:outerShdw>
          </a:effectLst>
        </p:spPr>
      </p:sp>
      <p:sp>
        <p:nvSpPr>
          <p:cNvPr id="13" name="Text 11"/>
          <p:cNvSpPr/>
          <p:nvPr/>
        </p:nvSpPr>
        <p:spPr>
          <a:xfrm>
            <a:off x="4617720" y="1371600"/>
            <a:ext cx="196596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4617720" y="1965960"/>
            <a:ext cx="1965960" cy="594360"/>
          </a:xfrm>
          <a:prstGeom prst="rect">
            <a:avLst/>
          </a:prstGeom>
          <a:noFill/>
          <a:ln/>
        </p:spPr>
        <p:txBody>
          <a:bodyPr wrap="square" lIns="0" tIns="0" rIns="0" bIns="0" rtlCol="0" anchor="ctr"/>
          <a:lstStyle/>
          <a:p>
            <a:pPr algn="ctr" indent="0" marL="0">
              <a:buNone/>
            </a:pPr>
            <a:r>
              <a:rPr lang="en-US" sz="2600" b="1" dirty="0">
                <a:solidFill>
                  <a:srgbClr val="8FBF4D"/>
                </a:solidFill>
                <a:latin typeface="Calibri" pitchFamily="34" charset="0"/>
                <a:ea typeface="Calibri" pitchFamily="34" charset="-122"/>
                <a:cs typeface="Calibri" pitchFamily="34" charset="-120"/>
              </a:rPr>
              <a:t>3 Years</a:t>
            </a:r>
            <a:endParaRPr lang="en-US" sz="2600" dirty="0"/>
          </a:p>
        </p:txBody>
      </p:sp>
      <p:sp>
        <p:nvSpPr>
          <p:cNvPr id="15" name="Text 13"/>
          <p:cNvSpPr/>
          <p:nvPr/>
        </p:nvSpPr>
        <p:spPr>
          <a:xfrm>
            <a:off x="4617720" y="2560320"/>
            <a:ext cx="1965960" cy="685800"/>
          </a:xfrm>
          <a:prstGeom prst="rect">
            <a:avLst/>
          </a:prstGeom>
          <a:noFill/>
          <a:ln/>
        </p:spPr>
        <p:txBody>
          <a:bodyPr wrap="square" lIns="0" tIns="0" rIns="0" bIns="0" rtlCol="0" anchor="ctr"/>
          <a:lstStyle/>
          <a:p>
            <a:pPr algn="ctr" indent="0" marL="0">
              <a:buNone/>
            </a:pPr>
            <a:r>
              <a:rPr lang="en-US" sz="1200" dirty="0">
                <a:solidFill>
                  <a:srgbClr val="F4F1E8"/>
                </a:solidFill>
                <a:latin typeface="Calibri" pitchFamily="34" charset="0"/>
                <a:ea typeface="Calibri" pitchFamily="34" charset="-122"/>
                <a:cs typeface="Calibri" pitchFamily="34" charset="-120"/>
              </a:rPr>
              <a:t>Weekly Data</a:t>
            </a:r>
            <a:endParaRPr lang="en-US" sz="1200" dirty="0"/>
          </a:p>
          <a:p>
            <a:pPr algn="ctr" indent="0" marL="0">
              <a:buNone/>
            </a:pPr>
            <a:r>
              <a:rPr lang="en-US" sz="1200" dirty="0">
                <a:solidFill>
                  <a:srgbClr val="F4F1E8"/>
                </a:solidFill>
                <a:latin typeface="Calibri" pitchFamily="34" charset="0"/>
                <a:ea typeface="Calibri" pitchFamily="34" charset="-122"/>
                <a:cs typeface="Calibri" pitchFamily="34" charset="-120"/>
              </a:rPr>
              <a:t>2015–2018</a:t>
            </a:r>
            <a:endParaRPr lang="en-US" sz="1200" dirty="0"/>
          </a:p>
        </p:txBody>
      </p:sp>
      <p:sp>
        <p:nvSpPr>
          <p:cNvPr id="16" name="Shape 14"/>
          <p:cNvSpPr/>
          <p:nvPr/>
        </p:nvSpPr>
        <p:spPr>
          <a:xfrm>
            <a:off x="6766560" y="1280160"/>
            <a:ext cx="1965960" cy="2194560"/>
          </a:xfrm>
          <a:prstGeom prst="rect">
            <a:avLst/>
          </a:prstGeom>
          <a:solidFill>
            <a:srgbClr val="2C6E3F"/>
          </a:solidFill>
          <a:ln w="12700">
            <a:solidFill>
              <a:srgbClr val="1A3A2A"/>
            </a:solidFill>
            <a:prstDash val="solid"/>
          </a:ln>
          <a:effectLst>
            <a:outerShdw sx="100000" sy="100000" kx="0" ky="0" algn="bl" rotWithShape="0" blurRad="101600" dist="38100" dir="8100000">
              <a:srgbClr val="000000">
                <a:alpha val="15000"/>
              </a:srgbClr>
            </a:outerShdw>
          </a:effectLst>
        </p:spPr>
      </p:sp>
      <p:sp>
        <p:nvSpPr>
          <p:cNvPr id="17" name="Text 15"/>
          <p:cNvSpPr/>
          <p:nvPr/>
        </p:nvSpPr>
        <p:spPr>
          <a:xfrm>
            <a:off x="6766560" y="1371600"/>
            <a:ext cx="196596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6766560" y="1965960"/>
            <a:ext cx="1965960" cy="594360"/>
          </a:xfrm>
          <a:prstGeom prst="rect">
            <a:avLst/>
          </a:prstGeom>
          <a:noFill/>
          <a:ln/>
        </p:spPr>
        <p:txBody>
          <a:bodyPr wrap="square" lIns="0" tIns="0" rIns="0" bIns="0" rtlCol="0" anchor="ctr"/>
          <a:lstStyle/>
          <a:p>
            <a:pPr algn="ctr" indent="0" marL="0">
              <a:buNone/>
            </a:pPr>
            <a:r>
              <a:rPr lang="en-US" sz="2600" b="1" dirty="0">
                <a:solidFill>
                  <a:srgbClr val="8FBF4D"/>
                </a:solidFill>
                <a:latin typeface="Calibri" pitchFamily="34" charset="0"/>
                <a:ea typeface="Calibri" pitchFamily="34" charset="-122"/>
                <a:cs typeface="Calibri" pitchFamily="34" charset="-120"/>
              </a:rPr>
              <a:t>42%</a:t>
            </a:r>
            <a:endParaRPr lang="en-US" sz="2600" dirty="0"/>
          </a:p>
        </p:txBody>
      </p:sp>
      <p:sp>
        <p:nvSpPr>
          <p:cNvPr id="19" name="Text 17"/>
          <p:cNvSpPr/>
          <p:nvPr/>
        </p:nvSpPr>
        <p:spPr>
          <a:xfrm>
            <a:off x="6766560" y="2560320"/>
            <a:ext cx="1965960" cy="685800"/>
          </a:xfrm>
          <a:prstGeom prst="rect">
            <a:avLst/>
          </a:prstGeom>
          <a:noFill/>
          <a:ln/>
        </p:spPr>
        <p:txBody>
          <a:bodyPr wrap="square" lIns="0" tIns="0" rIns="0" bIns="0" rtlCol="0" anchor="ctr"/>
          <a:lstStyle/>
          <a:p>
            <a:pPr algn="ctr" indent="0" marL="0">
              <a:buNone/>
            </a:pPr>
            <a:r>
              <a:rPr lang="en-US" sz="1200" dirty="0">
                <a:solidFill>
                  <a:srgbClr val="F4F1E8"/>
                </a:solidFill>
                <a:latin typeface="Calibri" pitchFamily="34" charset="0"/>
                <a:ea typeface="Calibri" pitchFamily="34" charset="-122"/>
                <a:cs typeface="Calibri" pitchFamily="34" charset="-120"/>
              </a:rPr>
              <a:t>Organic Price</a:t>
            </a:r>
            <a:endParaRPr lang="en-US" sz="1200" dirty="0"/>
          </a:p>
          <a:p>
            <a:pPr algn="ctr" indent="0" marL="0">
              <a:buNone/>
            </a:pPr>
            <a:r>
              <a:rPr lang="en-US" sz="1200" dirty="0">
                <a:solidFill>
                  <a:srgbClr val="F4F1E8"/>
                </a:solidFill>
                <a:latin typeface="Calibri" pitchFamily="34" charset="0"/>
                <a:ea typeface="Calibri" pitchFamily="34" charset="-122"/>
                <a:cs typeface="Calibri" pitchFamily="34" charset="-120"/>
              </a:rPr>
              <a:t>Premium</a:t>
            </a:r>
            <a:endParaRPr lang="en-US" sz="1200" dirty="0"/>
          </a:p>
        </p:txBody>
      </p:sp>
      <p:sp>
        <p:nvSpPr>
          <p:cNvPr id="20" name="Text 18"/>
          <p:cNvSpPr/>
          <p:nvPr/>
        </p:nvSpPr>
        <p:spPr>
          <a:xfrm>
            <a:off x="457200" y="3749040"/>
            <a:ext cx="8229600" cy="822960"/>
          </a:xfrm>
          <a:prstGeom prst="rect">
            <a:avLst/>
          </a:prstGeom>
          <a:noFill/>
          <a:ln/>
        </p:spPr>
        <p:txBody>
          <a:bodyPr wrap="square"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The dataset spans weekly retail avocado sales across 54 U.S. regions from January 2015 to March 2018, capturing price, volume, avocado size (PLU codes), and bag type for both conventional and organic varieties.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C6E3F"/>
          </a:solidFill>
          <a:ln w="12700">
            <a:solidFill>
              <a:srgbClr val="2C6E3F"/>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PRICE TRENDS  2015–2018</a:t>
            </a:r>
            <a:endParaRPr lang="en-US" sz="2800" dirty="0"/>
          </a:p>
        </p:txBody>
      </p:sp>
      <p:graphicFrame>
        <p:nvGraphicFramePr>
          <p:cNvPr id="4" name="Chart 0" descr=""/>
          <p:cNvGraphicFramePr/>
          <p:nvPr/>
        </p:nvGraphicFramePr>
        <p:xfrm>
          <a:off x="36576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760720" y="1188720"/>
            <a:ext cx="3017520" cy="365760"/>
          </a:xfrm>
          <a:prstGeom prst="rect">
            <a:avLst/>
          </a:prstGeom>
          <a:noFill/>
          <a:ln/>
        </p:spPr>
        <p:txBody>
          <a:bodyPr wrap="square" lIns="0" tIns="0" rIns="0" bIns="0" rtlCol="0" anchor="ctr"/>
          <a:lstStyle/>
          <a:p>
            <a:pPr indent="0" marL="0">
              <a:buNone/>
            </a:pPr>
            <a:r>
              <a:rPr lang="en-US" sz="1300" b="1" spc="200" kern="0" dirty="0">
                <a:solidFill>
                  <a:srgbClr val="1A3A2A"/>
                </a:solidFill>
                <a:latin typeface="Calibri" pitchFamily="34" charset="0"/>
                <a:ea typeface="Calibri" pitchFamily="34" charset="-122"/>
                <a:cs typeface="Calibri" pitchFamily="34" charset="-120"/>
              </a:rPr>
              <a:t>KEY TAKEAWAYS</a:t>
            </a:r>
            <a:endParaRPr lang="en-US" sz="1300" dirty="0"/>
          </a:p>
        </p:txBody>
      </p:sp>
      <p:sp>
        <p:nvSpPr>
          <p:cNvPr id="6" name="Shape 3"/>
          <p:cNvSpPr/>
          <p:nvPr/>
        </p:nvSpPr>
        <p:spPr>
          <a:xfrm>
            <a:off x="5760720" y="1691640"/>
            <a:ext cx="457200" cy="457200"/>
          </a:xfrm>
          <a:prstGeom prst="rect">
            <a:avLst/>
          </a:prstGeom>
          <a:solidFill>
            <a:srgbClr val="1A3A2A"/>
          </a:solidFill>
          <a:ln w="12700">
            <a:solidFill>
              <a:srgbClr val="1A3A2A"/>
            </a:solidFill>
            <a:prstDash val="solid"/>
          </a:ln>
        </p:spPr>
      </p:sp>
      <p:sp>
        <p:nvSpPr>
          <p:cNvPr id="7" name="Text 4"/>
          <p:cNvSpPr/>
          <p:nvPr/>
        </p:nvSpPr>
        <p:spPr>
          <a:xfrm>
            <a:off x="5760720" y="1691640"/>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rPr>
              <a:t>2015</a:t>
            </a:r>
            <a:endParaRPr lang="en-US" sz="1000" dirty="0"/>
          </a:p>
        </p:txBody>
      </p:sp>
      <p:sp>
        <p:nvSpPr>
          <p:cNvPr id="8" name="Text 5"/>
          <p:cNvSpPr/>
          <p:nvPr/>
        </p:nvSpPr>
        <p:spPr>
          <a:xfrm>
            <a:off x="6309360" y="1709928"/>
            <a:ext cx="2560320" cy="411480"/>
          </a:xfrm>
          <a:prstGeom prst="rect">
            <a:avLst/>
          </a:prstGeom>
          <a:noFill/>
          <a:ln/>
        </p:spPr>
        <p:txBody>
          <a:bodyPr wrap="square" lIns="0" tIns="0" rIns="0" bIns="0" rtlCol="0" anchor="ctr"/>
          <a:lstStyle/>
          <a:p>
            <a:pPr indent="0" marL="0">
              <a:buNone/>
            </a:pPr>
            <a:r>
              <a:rPr lang="en-US" sz="1200" dirty="0">
                <a:solidFill>
                  <a:srgbClr val="1A3A2A"/>
                </a:solidFill>
                <a:latin typeface="Calibri" pitchFamily="34" charset="0"/>
                <a:ea typeface="Calibri" pitchFamily="34" charset="-122"/>
                <a:cs typeface="Calibri" pitchFamily="34" charset="-120"/>
              </a:rPr>
              <a:t>$1.38 avg — baseline year</a:t>
            </a:r>
            <a:endParaRPr lang="en-US" sz="1200" dirty="0"/>
          </a:p>
        </p:txBody>
      </p:sp>
      <p:sp>
        <p:nvSpPr>
          <p:cNvPr id="9" name="Shape 6"/>
          <p:cNvSpPr/>
          <p:nvPr/>
        </p:nvSpPr>
        <p:spPr>
          <a:xfrm>
            <a:off x="5760720" y="2377440"/>
            <a:ext cx="457200" cy="457200"/>
          </a:xfrm>
          <a:prstGeom prst="rect">
            <a:avLst/>
          </a:prstGeom>
          <a:solidFill>
            <a:srgbClr val="5A9A4A"/>
          </a:solidFill>
          <a:ln w="12700">
            <a:solidFill>
              <a:srgbClr val="5A9A4A"/>
            </a:solidFill>
            <a:prstDash val="solid"/>
          </a:ln>
        </p:spPr>
      </p:sp>
      <p:sp>
        <p:nvSpPr>
          <p:cNvPr id="10" name="Text 7"/>
          <p:cNvSpPr/>
          <p:nvPr/>
        </p:nvSpPr>
        <p:spPr>
          <a:xfrm>
            <a:off x="5760720" y="2377440"/>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rPr>
              <a:t>2016</a:t>
            </a:r>
            <a:endParaRPr lang="en-US" sz="1000" dirty="0"/>
          </a:p>
        </p:txBody>
      </p:sp>
      <p:sp>
        <p:nvSpPr>
          <p:cNvPr id="11" name="Text 8"/>
          <p:cNvSpPr/>
          <p:nvPr/>
        </p:nvSpPr>
        <p:spPr>
          <a:xfrm>
            <a:off x="6309360" y="2395728"/>
            <a:ext cx="2560320" cy="411480"/>
          </a:xfrm>
          <a:prstGeom prst="rect">
            <a:avLst/>
          </a:prstGeom>
          <a:noFill/>
          <a:ln/>
        </p:spPr>
        <p:txBody>
          <a:bodyPr wrap="square" lIns="0" tIns="0" rIns="0" bIns="0" rtlCol="0" anchor="ctr"/>
          <a:lstStyle/>
          <a:p>
            <a:pPr indent="0" marL="0">
              <a:buNone/>
            </a:pPr>
            <a:r>
              <a:rPr lang="en-US" sz="1200" dirty="0">
                <a:solidFill>
                  <a:srgbClr val="1A3A2A"/>
                </a:solidFill>
                <a:latin typeface="Calibri" pitchFamily="34" charset="0"/>
                <a:ea typeface="Calibri" pitchFamily="34" charset="-122"/>
                <a:cs typeface="Calibri" pitchFamily="34" charset="-120"/>
              </a:rPr>
              <a:t>$1.34 — slight dip</a:t>
            </a:r>
            <a:endParaRPr lang="en-US" sz="1200" dirty="0"/>
          </a:p>
        </p:txBody>
      </p:sp>
      <p:sp>
        <p:nvSpPr>
          <p:cNvPr id="12" name="Shape 9"/>
          <p:cNvSpPr/>
          <p:nvPr/>
        </p:nvSpPr>
        <p:spPr>
          <a:xfrm>
            <a:off x="5760720" y="3063240"/>
            <a:ext cx="457200" cy="457200"/>
          </a:xfrm>
          <a:prstGeom prst="rect">
            <a:avLst/>
          </a:prstGeom>
          <a:solidFill>
            <a:srgbClr val="E07B39"/>
          </a:solidFill>
          <a:ln w="12700">
            <a:solidFill>
              <a:srgbClr val="E07B39"/>
            </a:solidFill>
            <a:prstDash val="solid"/>
          </a:ln>
        </p:spPr>
      </p:sp>
      <p:sp>
        <p:nvSpPr>
          <p:cNvPr id="13" name="Text 10"/>
          <p:cNvSpPr/>
          <p:nvPr/>
        </p:nvSpPr>
        <p:spPr>
          <a:xfrm>
            <a:off x="5760720" y="3063240"/>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rPr>
              <a:t>2017</a:t>
            </a:r>
            <a:endParaRPr lang="en-US" sz="1000" dirty="0"/>
          </a:p>
        </p:txBody>
      </p:sp>
      <p:sp>
        <p:nvSpPr>
          <p:cNvPr id="14" name="Text 11"/>
          <p:cNvSpPr/>
          <p:nvPr/>
        </p:nvSpPr>
        <p:spPr>
          <a:xfrm>
            <a:off x="6309360" y="3081528"/>
            <a:ext cx="2560320" cy="411480"/>
          </a:xfrm>
          <a:prstGeom prst="rect">
            <a:avLst/>
          </a:prstGeom>
          <a:noFill/>
          <a:ln/>
        </p:spPr>
        <p:txBody>
          <a:bodyPr wrap="square" lIns="0" tIns="0" rIns="0" bIns="0" rtlCol="0" anchor="ctr"/>
          <a:lstStyle/>
          <a:p>
            <a:pPr indent="0" marL="0">
              <a:buNone/>
            </a:pPr>
            <a:r>
              <a:rPr lang="en-US" sz="1200" dirty="0">
                <a:solidFill>
                  <a:srgbClr val="1A3A2A"/>
                </a:solidFill>
                <a:latin typeface="Calibri" pitchFamily="34" charset="0"/>
                <a:ea typeface="Calibri" pitchFamily="34" charset="-122"/>
                <a:cs typeface="Calibri" pitchFamily="34" charset="-120"/>
              </a:rPr>
              <a:t>$1.52 — 13% surge (drought + avocado toast boom)</a:t>
            </a:r>
            <a:endParaRPr lang="en-US" sz="1200" dirty="0"/>
          </a:p>
        </p:txBody>
      </p:sp>
      <p:sp>
        <p:nvSpPr>
          <p:cNvPr id="15" name="Shape 12"/>
          <p:cNvSpPr/>
          <p:nvPr/>
        </p:nvSpPr>
        <p:spPr>
          <a:xfrm>
            <a:off x="5760720" y="3749040"/>
            <a:ext cx="457200" cy="457200"/>
          </a:xfrm>
          <a:prstGeom prst="rect">
            <a:avLst/>
          </a:prstGeom>
          <a:solidFill>
            <a:srgbClr val="1A3A2A"/>
          </a:solidFill>
          <a:ln w="12700">
            <a:solidFill>
              <a:srgbClr val="1A3A2A"/>
            </a:solidFill>
            <a:prstDash val="solid"/>
          </a:ln>
        </p:spPr>
      </p:sp>
      <p:sp>
        <p:nvSpPr>
          <p:cNvPr id="16" name="Text 13"/>
          <p:cNvSpPr/>
          <p:nvPr/>
        </p:nvSpPr>
        <p:spPr>
          <a:xfrm>
            <a:off x="5760720" y="3749040"/>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rPr>
              <a:t>2018</a:t>
            </a:r>
            <a:endParaRPr lang="en-US" sz="1000" dirty="0"/>
          </a:p>
        </p:txBody>
      </p:sp>
      <p:sp>
        <p:nvSpPr>
          <p:cNvPr id="17" name="Text 14"/>
          <p:cNvSpPr/>
          <p:nvPr/>
        </p:nvSpPr>
        <p:spPr>
          <a:xfrm>
            <a:off x="6309360" y="3767328"/>
            <a:ext cx="2560320" cy="411480"/>
          </a:xfrm>
          <a:prstGeom prst="rect">
            <a:avLst/>
          </a:prstGeom>
          <a:noFill/>
          <a:ln/>
        </p:spPr>
        <p:txBody>
          <a:bodyPr wrap="square" lIns="0" tIns="0" rIns="0" bIns="0" rtlCol="0" anchor="ctr"/>
          <a:lstStyle/>
          <a:p>
            <a:pPr indent="0" marL="0">
              <a:buNone/>
            </a:pPr>
            <a:r>
              <a:rPr lang="en-US" sz="1200" dirty="0">
                <a:solidFill>
                  <a:srgbClr val="1A3A2A"/>
                </a:solidFill>
                <a:latin typeface="Calibri" pitchFamily="34" charset="0"/>
                <a:ea typeface="Calibri" pitchFamily="34" charset="-122"/>
                <a:cs typeface="Calibri" pitchFamily="34" charset="-120"/>
              </a:rPr>
              <a:t>$1.35 — prices normalize</a:t>
            </a:r>
            <a:endParaRPr lang="en-US" sz="1200" dirty="0"/>
          </a:p>
        </p:txBody>
      </p:sp>
      <p:sp>
        <p:nvSpPr>
          <p:cNvPr id="18" name="Text 15"/>
          <p:cNvSpPr/>
          <p:nvPr/>
        </p:nvSpPr>
        <p:spPr>
          <a:xfrm>
            <a:off x="5760720" y="4251960"/>
            <a:ext cx="3108960" cy="64008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The 2017 price spike was driven by a California drought, Mexican supply disruptions, AND the viral avocado toast trend — demand held even as prices rose 13%.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w="12700">
            <a:solidFill>
              <a:srgbClr val="1A3A2A"/>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SEASONAL PATTERNS</a:t>
            </a:r>
            <a:endParaRPr lang="en-US" sz="2800" dirty="0"/>
          </a:p>
        </p:txBody>
      </p:sp>
      <p:graphicFrame>
        <p:nvGraphicFramePr>
          <p:cNvPr id="4" name="Chart 0" descr=""/>
          <p:cNvGraphicFramePr/>
          <p:nvPr/>
        </p:nvGraphicFramePr>
        <p:xfrm>
          <a:off x="274320" y="1097280"/>
          <a:ext cx="8595360" cy="27432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365760" y="3977640"/>
            <a:ext cx="4114800" cy="365760"/>
          </a:xfrm>
          <a:prstGeom prst="rect">
            <a:avLst/>
          </a:prstGeom>
          <a:noFill/>
          <a:ln/>
        </p:spPr>
        <p:txBody>
          <a:bodyPr wrap="square" rtlCol="0" anchor="ctr"/>
          <a:lstStyle/>
          <a:p>
            <a:pPr indent="0" marL="0">
              <a:buNone/>
            </a:pPr>
            <a:r>
              <a:rPr lang="en-US" sz="1200" dirty="0">
                <a:solidFill>
                  <a:srgbClr val="1A3A2A"/>
                </a:solidFill>
                <a:latin typeface="Calibri" pitchFamily="34" charset="0"/>
                <a:ea typeface="Calibri" pitchFamily="34" charset="-122"/>
                <a:cs typeface="Calibri" pitchFamily="34" charset="-120"/>
              </a:rPr>
              <a:t>🏈  Super Bowl (Feb): volume spike, prices dip</a:t>
            </a:r>
            <a:endParaRPr lang="en-US" sz="1200" dirty="0"/>
          </a:p>
        </p:txBody>
      </p:sp>
      <p:sp>
        <p:nvSpPr>
          <p:cNvPr id="6" name="Text 3"/>
          <p:cNvSpPr/>
          <p:nvPr/>
        </p:nvSpPr>
        <p:spPr>
          <a:xfrm>
            <a:off x="365760" y="4434840"/>
            <a:ext cx="4114800" cy="365760"/>
          </a:xfrm>
          <a:prstGeom prst="rect">
            <a:avLst/>
          </a:prstGeom>
          <a:noFill/>
          <a:ln/>
        </p:spPr>
        <p:txBody>
          <a:bodyPr wrap="square" rtlCol="0" anchor="ctr"/>
          <a:lstStyle/>
          <a:p>
            <a:pPr indent="0" marL="0">
              <a:buNone/>
            </a:pPr>
            <a:r>
              <a:rPr lang="en-US" sz="1200" dirty="0">
                <a:solidFill>
                  <a:srgbClr val="1A3A2A"/>
                </a:solidFill>
                <a:latin typeface="Calibri" pitchFamily="34" charset="0"/>
                <a:ea typeface="Calibri" pitchFamily="34" charset="-122"/>
                <a:cs typeface="Calibri" pitchFamily="34" charset="-120"/>
              </a:rPr>
              <a:t>🌮  Cinco de Mayo (May): guacamole demand peak</a:t>
            </a:r>
            <a:endParaRPr lang="en-US" sz="1200" dirty="0"/>
          </a:p>
        </p:txBody>
      </p:sp>
      <p:sp>
        <p:nvSpPr>
          <p:cNvPr id="7" name="Text 4"/>
          <p:cNvSpPr/>
          <p:nvPr/>
        </p:nvSpPr>
        <p:spPr>
          <a:xfrm>
            <a:off x="4663440" y="3977640"/>
            <a:ext cx="4114800" cy="365760"/>
          </a:xfrm>
          <a:prstGeom prst="rect">
            <a:avLst/>
          </a:prstGeom>
          <a:noFill/>
          <a:ln/>
        </p:spPr>
        <p:txBody>
          <a:bodyPr wrap="square" rtlCol="0" anchor="ctr"/>
          <a:lstStyle/>
          <a:p>
            <a:pPr indent="0" marL="0">
              <a:buNone/>
            </a:pPr>
            <a:r>
              <a:rPr lang="en-US" sz="1200" dirty="0">
                <a:solidFill>
                  <a:srgbClr val="1A3A2A"/>
                </a:solidFill>
                <a:latin typeface="Calibri" pitchFamily="34" charset="0"/>
                <a:ea typeface="Calibri" pitchFamily="34" charset="-122"/>
                <a:cs typeface="Calibri" pitchFamily="34" charset="-120"/>
              </a:rPr>
              <a:t>☀️  Aug–Oct: highest prices as summer grilling peaks</a:t>
            </a:r>
            <a:endParaRPr lang="en-US" sz="1200" dirty="0"/>
          </a:p>
        </p:txBody>
      </p:sp>
      <p:sp>
        <p:nvSpPr>
          <p:cNvPr id="8" name="Text 5"/>
          <p:cNvSpPr/>
          <p:nvPr/>
        </p:nvSpPr>
        <p:spPr>
          <a:xfrm>
            <a:off x="4663440" y="4434840"/>
            <a:ext cx="4114800" cy="365760"/>
          </a:xfrm>
          <a:prstGeom prst="rect">
            <a:avLst/>
          </a:prstGeom>
          <a:noFill/>
          <a:ln/>
        </p:spPr>
        <p:txBody>
          <a:bodyPr wrap="square" rtlCol="0" anchor="ctr"/>
          <a:lstStyle/>
          <a:p>
            <a:pPr indent="0" marL="0">
              <a:buNone/>
            </a:pPr>
            <a:r>
              <a:rPr lang="en-US" sz="1200" dirty="0">
                <a:solidFill>
                  <a:srgbClr val="1A3A2A"/>
                </a:solidFill>
                <a:latin typeface="Calibri" pitchFamily="34" charset="0"/>
                <a:ea typeface="Calibri" pitchFamily="34" charset="-122"/>
                <a:cs typeface="Calibri" pitchFamily="34" charset="-120"/>
              </a:rPr>
              <a:t>📉  Fall drop: no major avocado holiday drives demand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C6E3F"/>
          </a:solidFill>
          <a:ln w="12700">
            <a:solidFill>
              <a:srgbClr val="2C6E3F"/>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CONVENTIONAL vs ORGANIC</a:t>
            </a:r>
            <a:endParaRPr lang="en-US" sz="2800" dirty="0"/>
          </a:p>
        </p:txBody>
      </p:sp>
      <p:sp>
        <p:nvSpPr>
          <p:cNvPr id="4" name="Shape 2"/>
          <p:cNvSpPr/>
          <p:nvPr/>
        </p:nvSpPr>
        <p:spPr>
          <a:xfrm>
            <a:off x="365760" y="1143000"/>
            <a:ext cx="4114800" cy="3566160"/>
          </a:xfrm>
          <a:prstGeom prst="rect">
            <a:avLst/>
          </a:prstGeom>
          <a:solidFill>
            <a:srgbClr val="1A3A2A"/>
          </a:solidFill>
          <a:ln w="12700">
            <a:solidFill>
              <a:srgbClr val="1A3A2A"/>
            </a:solidFill>
            <a:prstDash val="solid"/>
          </a:ln>
          <a:effectLst>
            <a:outerShdw sx="100000" sy="100000" kx="0" ky="0" algn="bl" rotWithShape="0" blurRad="127000" dist="50800" dir="8100000">
              <a:srgbClr val="000000">
                <a:alpha val="18000"/>
              </a:srgbClr>
            </a:outerShdw>
          </a:effectLst>
        </p:spPr>
      </p:sp>
      <p:sp>
        <p:nvSpPr>
          <p:cNvPr id="5" name="Shape 3"/>
          <p:cNvSpPr/>
          <p:nvPr/>
        </p:nvSpPr>
        <p:spPr>
          <a:xfrm>
            <a:off x="365760" y="1143000"/>
            <a:ext cx="1097280" cy="347472"/>
          </a:xfrm>
          <a:prstGeom prst="rect">
            <a:avLst/>
          </a:prstGeom>
          <a:solidFill>
            <a:srgbClr val="8FBF4D"/>
          </a:solidFill>
          <a:ln w="12700">
            <a:solidFill>
              <a:srgbClr val="8FBF4D"/>
            </a:solidFill>
            <a:prstDash val="solid"/>
          </a:ln>
        </p:spPr>
      </p:sp>
      <p:sp>
        <p:nvSpPr>
          <p:cNvPr id="6" name="Text 4"/>
          <p:cNvSpPr/>
          <p:nvPr/>
        </p:nvSpPr>
        <p:spPr>
          <a:xfrm>
            <a:off x="365760" y="1143000"/>
            <a:ext cx="1097280" cy="347472"/>
          </a:xfrm>
          <a:prstGeom prst="rect">
            <a:avLst/>
          </a:prstGeom>
          <a:noFill/>
          <a:ln/>
        </p:spPr>
        <p:txBody>
          <a:bodyPr wrap="square" lIns="0" tIns="0" rIns="0" bIns="0" rtlCol="0" anchor="ctr"/>
          <a:lstStyle/>
          <a:p>
            <a:pPr algn="ctr" indent="0" marL="0">
              <a:buNone/>
            </a:pPr>
            <a:r>
              <a:rPr lang="en-US" sz="900" b="1" dirty="0">
                <a:solidFill>
                  <a:srgbClr val="1A3A2A"/>
                </a:solidFill>
              </a:rPr>
              <a:t>HIGH VOLUME</a:t>
            </a:r>
            <a:endParaRPr lang="en-US" sz="900" dirty="0"/>
          </a:p>
        </p:txBody>
      </p:sp>
      <p:sp>
        <p:nvSpPr>
          <p:cNvPr id="7" name="Text 5"/>
          <p:cNvSpPr/>
          <p:nvPr/>
        </p:nvSpPr>
        <p:spPr>
          <a:xfrm>
            <a:off x="365760" y="1554480"/>
            <a:ext cx="411480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CONVENTIONAL</a:t>
            </a:r>
            <a:endParaRPr lang="en-US" sz="2000" dirty="0"/>
          </a:p>
        </p:txBody>
      </p:sp>
      <p:sp>
        <p:nvSpPr>
          <p:cNvPr id="8" name="Text 6"/>
          <p:cNvSpPr/>
          <p:nvPr/>
        </p:nvSpPr>
        <p:spPr>
          <a:xfrm>
            <a:off x="365760" y="2103120"/>
            <a:ext cx="4114800" cy="914400"/>
          </a:xfrm>
          <a:prstGeom prst="rect">
            <a:avLst/>
          </a:prstGeom>
          <a:noFill/>
          <a:ln/>
        </p:spPr>
        <p:txBody>
          <a:bodyPr wrap="square" lIns="0" tIns="0" rIns="0" bIns="0" rtlCol="0" anchor="ctr"/>
          <a:lstStyle/>
          <a:p>
            <a:pPr algn="ctr" indent="0" marL="0">
              <a:buNone/>
            </a:pPr>
            <a:r>
              <a:rPr lang="en-US" sz="6200" b="1" dirty="0">
                <a:solidFill>
                  <a:srgbClr val="8FBF4D"/>
                </a:solidFill>
                <a:latin typeface="Calibri" pitchFamily="34" charset="0"/>
                <a:ea typeface="Calibri" pitchFamily="34" charset="-122"/>
                <a:cs typeface="Calibri" pitchFamily="34" charset="-120"/>
              </a:rPr>
              <a:t>$1.16</a:t>
            </a:r>
            <a:endParaRPr lang="en-US" sz="6200" dirty="0"/>
          </a:p>
        </p:txBody>
      </p:sp>
      <p:sp>
        <p:nvSpPr>
          <p:cNvPr id="9" name="Text 7"/>
          <p:cNvSpPr/>
          <p:nvPr/>
        </p:nvSpPr>
        <p:spPr>
          <a:xfrm>
            <a:off x="365760" y="3017520"/>
            <a:ext cx="4114800" cy="320040"/>
          </a:xfrm>
          <a:prstGeom prst="rect">
            <a:avLst/>
          </a:prstGeom>
          <a:noFill/>
          <a:ln/>
        </p:spPr>
        <p:txBody>
          <a:bodyPr wrap="square" lIns="0" tIns="0" rIns="0" bIns="0" rtlCol="0" anchor="ctr"/>
          <a:lstStyle/>
          <a:p>
            <a:pPr algn="ctr" indent="0" marL="0">
              <a:buNone/>
            </a:pPr>
            <a:r>
              <a:rPr lang="en-US" sz="1100" i="1" dirty="0">
                <a:solidFill>
                  <a:srgbClr val="F4F1E8"/>
                </a:solidFill>
                <a:latin typeface="Calibri" pitchFamily="34" charset="0"/>
                <a:ea typeface="Calibri" pitchFamily="34" charset="-122"/>
                <a:cs typeface="Calibri" pitchFamily="34" charset="-120"/>
              </a:rPr>
              <a:t>Avg. price per avocado</a:t>
            </a:r>
            <a:endParaRPr lang="en-US" sz="1100" dirty="0"/>
          </a:p>
        </p:txBody>
      </p:sp>
      <p:sp>
        <p:nvSpPr>
          <p:cNvPr id="10" name="Text 8"/>
          <p:cNvSpPr/>
          <p:nvPr/>
        </p:nvSpPr>
        <p:spPr>
          <a:xfrm>
            <a:off x="548640" y="3383280"/>
            <a:ext cx="3749040" cy="1097280"/>
          </a:xfrm>
          <a:prstGeom prst="rect">
            <a:avLst/>
          </a:prstGeom>
          <a:noFill/>
          <a:ln/>
        </p:spPr>
        <p:txBody>
          <a:bodyPr wrap="square" lIns="0" tIns="0" rIns="0" bIns="0" rtlCol="0" anchor="ctr"/>
          <a:lstStyle/>
          <a:p>
            <a:pPr algn="l" indent="0" marL="0">
              <a:buNone/>
            </a:pPr>
            <a:r>
              <a:rPr lang="en-US" sz="1150" dirty="0">
                <a:solidFill>
                  <a:srgbClr val="F4F1E8"/>
                </a:solidFill>
                <a:latin typeface="Calibri" pitchFamily="34" charset="0"/>
                <a:ea typeface="Calibri" pitchFamily="34" charset="-122"/>
                <a:cs typeface="Calibri" pitchFamily="34" charset="-120"/>
              </a:rPr>
              <a:t>Dominates volume. Price-sensitive shoppers choose conventional for everyday use. Widely available in all major grocery chains.</a:t>
            </a:r>
            <a:endParaRPr lang="en-US" sz="1150" dirty="0"/>
          </a:p>
        </p:txBody>
      </p:sp>
      <p:sp>
        <p:nvSpPr>
          <p:cNvPr id="11" name="Shape 9"/>
          <p:cNvSpPr/>
          <p:nvPr/>
        </p:nvSpPr>
        <p:spPr>
          <a:xfrm>
            <a:off x="4937760" y="1143000"/>
            <a:ext cx="4114800" cy="3566160"/>
          </a:xfrm>
          <a:prstGeom prst="rect">
            <a:avLst/>
          </a:prstGeom>
          <a:solidFill>
            <a:srgbClr val="2C6E3F"/>
          </a:solidFill>
          <a:ln w="12700">
            <a:solidFill>
              <a:srgbClr val="2C6E3F"/>
            </a:solidFill>
            <a:prstDash val="solid"/>
          </a:ln>
          <a:effectLst>
            <a:outerShdw sx="100000" sy="100000" kx="0" ky="0" algn="bl" rotWithShape="0" blurRad="127000" dist="50800" dir="8100000">
              <a:srgbClr val="000000">
                <a:alpha val="18000"/>
              </a:srgbClr>
            </a:outerShdw>
          </a:effectLst>
        </p:spPr>
      </p:sp>
      <p:sp>
        <p:nvSpPr>
          <p:cNvPr id="12" name="Shape 10"/>
          <p:cNvSpPr/>
          <p:nvPr/>
        </p:nvSpPr>
        <p:spPr>
          <a:xfrm>
            <a:off x="4937760" y="1143000"/>
            <a:ext cx="1097280" cy="347472"/>
          </a:xfrm>
          <a:prstGeom prst="rect">
            <a:avLst/>
          </a:prstGeom>
          <a:solidFill>
            <a:srgbClr val="8FBF4D"/>
          </a:solidFill>
          <a:ln w="12700">
            <a:solidFill>
              <a:srgbClr val="8FBF4D"/>
            </a:solidFill>
            <a:prstDash val="solid"/>
          </a:ln>
        </p:spPr>
      </p:sp>
      <p:sp>
        <p:nvSpPr>
          <p:cNvPr id="13" name="Text 11"/>
          <p:cNvSpPr/>
          <p:nvPr/>
        </p:nvSpPr>
        <p:spPr>
          <a:xfrm>
            <a:off x="4937760" y="1143000"/>
            <a:ext cx="1097280" cy="347472"/>
          </a:xfrm>
          <a:prstGeom prst="rect">
            <a:avLst/>
          </a:prstGeom>
          <a:noFill/>
          <a:ln/>
        </p:spPr>
        <p:txBody>
          <a:bodyPr wrap="square" lIns="0" tIns="0" rIns="0" bIns="0" rtlCol="0" anchor="ctr"/>
          <a:lstStyle/>
          <a:p>
            <a:pPr algn="ctr" indent="0" marL="0">
              <a:buNone/>
            </a:pPr>
            <a:r>
              <a:rPr lang="en-US" sz="900" b="1" dirty="0">
                <a:solidFill>
                  <a:srgbClr val="1A3A2A"/>
                </a:solidFill>
              </a:rPr>
              <a:t>HIGH MARGIN</a:t>
            </a:r>
            <a:endParaRPr lang="en-US" sz="900" dirty="0"/>
          </a:p>
        </p:txBody>
      </p:sp>
      <p:sp>
        <p:nvSpPr>
          <p:cNvPr id="14" name="Text 12"/>
          <p:cNvSpPr/>
          <p:nvPr/>
        </p:nvSpPr>
        <p:spPr>
          <a:xfrm>
            <a:off x="4937760" y="1554480"/>
            <a:ext cx="411480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ORGANIC</a:t>
            </a:r>
            <a:endParaRPr lang="en-US" sz="2000" dirty="0"/>
          </a:p>
        </p:txBody>
      </p:sp>
      <p:sp>
        <p:nvSpPr>
          <p:cNvPr id="15" name="Text 13"/>
          <p:cNvSpPr/>
          <p:nvPr/>
        </p:nvSpPr>
        <p:spPr>
          <a:xfrm>
            <a:off x="4937760" y="2103120"/>
            <a:ext cx="4114800" cy="914400"/>
          </a:xfrm>
          <a:prstGeom prst="rect">
            <a:avLst/>
          </a:prstGeom>
          <a:noFill/>
          <a:ln/>
        </p:spPr>
        <p:txBody>
          <a:bodyPr wrap="square" lIns="0" tIns="0" rIns="0" bIns="0" rtlCol="0" anchor="ctr"/>
          <a:lstStyle/>
          <a:p>
            <a:pPr algn="ctr" indent="0" marL="0">
              <a:buNone/>
            </a:pPr>
            <a:r>
              <a:rPr lang="en-US" sz="6200" b="1" dirty="0">
                <a:solidFill>
                  <a:srgbClr val="8FBF4D"/>
                </a:solidFill>
                <a:latin typeface="Calibri" pitchFamily="34" charset="0"/>
                <a:ea typeface="Calibri" pitchFamily="34" charset="-122"/>
                <a:cs typeface="Calibri" pitchFamily="34" charset="-120"/>
              </a:rPr>
              <a:t>$1.65</a:t>
            </a:r>
            <a:endParaRPr lang="en-US" sz="6200" dirty="0"/>
          </a:p>
        </p:txBody>
      </p:sp>
      <p:sp>
        <p:nvSpPr>
          <p:cNvPr id="16" name="Text 14"/>
          <p:cNvSpPr/>
          <p:nvPr/>
        </p:nvSpPr>
        <p:spPr>
          <a:xfrm>
            <a:off x="4937760" y="3017520"/>
            <a:ext cx="4114800" cy="320040"/>
          </a:xfrm>
          <a:prstGeom prst="rect">
            <a:avLst/>
          </a:prstGeom>
          <a:noFill/>
          <a:ln/>
        </p:spPr>
        <p:txBody>
          <a:bodyPr wrap="square" lIns="0" tIns="0" rIns="0" bIns="0" rtlCol="0" anchor="ctr"/>
          <a:lstStyle/>
          <a:p>
            <a:pPr algn="ctr" indent="0" marL="0">
              <a:buNone/>
            </a:pPr>
            <a:r>
              <a:rPr lang="en-US" sz="1100" i="1" dirty="0">
                <a:solidFill>
                  <a:srgbClr val="F4F1E8"/>
                </a:solidFill>
                <a:latin typeface="Calibri" pitchFamily="34" charset="0"/>
                <a:ea typeface="Calibri" pitchFamily="34" charset="-122"/>
                <a:cs typeface="Calibri" pitchFamily="34" charset="-120"/>
              </a:rPr>
              <a:t>Avg. price per avocado</a:t>
            </a:r>
            <a:endParaRPr lang="en-US" sz="1100" dirty="0"/>
          </a:p>
        </p:txBody>
      </p:sp>
      <p:sp>
        <p:nvSpPr>
          <p:cNvPr id="17" name="Text 15"/>
          <p:cNvSpPr/>
          <p:nvPr/>
        </p:nvSpPr>
        <p:spPr>
          <a:xfrm>
            <a:off x="5120640" y="3383280"/>
            <a:ext cx="3749040" cy="1097280"/>
          </a:xfrm>
          <a:prstGeom prst="rect">
            <a:avLst/>
          </a:prstGeom>
          <a:noFill/>
          <a:ln/>
        </p:spPr>
        <p:txBody>
          <a:bodyPr wrap="square" lIns="0" tIns="0" rIns="0" bIns="0" rtlCol="0" anchor="ctr"/>
          <a:lstStyle/>
          <a:p>
            <a:pPr algn="l" indent="0" marL="0">
              <a:buNone/>
            </a:pPr>
            <a:r>
              <a:rPr lang="en-US" sz="1150" dirty="0">
                <a:solidFill>
                  <a:srgbClr val="F4F1E8"/>
                </a:solidFill>
                <a:latin typeface="Calibri" pitchFamily="34" charset="0"/>
                <a:ea typeface="Calibri" pitchFamily="34" charset="-122"/>
                <a:cs typeface="Calibri" pitchFamily="34" charset="-120"/>
              </a:rPr>
              <a:t>Commands a 42% price premium. Driven by health-conscious millennials &amp; Gen Z. Organic demand has grown ~25% annually.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w="12700">
            <a:solidFill>
              <a:srgbClr val="1A3A2A"/>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SELLS — SIZE &amp; FORMAT</a:t>
            </a:r>
            <a:endParaRPr lang="en-US" sz="2800" dirty="0"/>
          </a:p>
        </p:txBody>
      </p:sp>
      <p:graphicFrame>
        <p:nvGraphicFramePr>
          <p:cNvPr id="4" name="Chart 0" descr=""/>
          <p:cNvGraphicFramePr/>
          <p:nvPr/>
        </p:nvGraphicFramePr>
        <p:xfrm>
          <a:off x="274320" y="1097280"/>
          <a:ext cx="411480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663440" y="1097280"/>
          <a:ext cx="4114800" cy="32004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457200" y="4434840"/>
            <a:ext cx="8229600" cy="50292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Small Hass &amp; large Hass avocados are nearly tied in volume (~49% each). Small bags outsell large bags 3.4× — reflecting single-household purchasing behavior.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C6E3F"/>
          </a:solidFill>
          <a:ln w="12700">
            <a:solidFill>
              <a:srgbClr val="2C6E3F"/>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REGIONAL HIGHLIGHTS</a:t>
            </a:r>
            <a:endParaRPr lang="en-US" sz="2800" dirty="0"/>
          </a:p>
        </p:txBody>
      </p:sp>
      <p:graphicFrame>
        <p:nvGraphicFramePr>
          <p:cNvPr id="4" name="Chart 0" descr=""/>
          <p:cNvGraphicFramePr/>
          <p:nvPr/>
        </p:nvGraphicFramePr>
        <p:xfrm>
          <a:off x="274320" y="1097280"/>
          <a:ext cx="502920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577840" y="1143000"/>
            <a:ext cx="3291840" cy="365760"/>
          </a:xfrm>
          <a:prstGeom prst="rect">
            <a:avLst/>
          </a:prstGeom>
          <a:noFill/>
          <a:ln/>
        </p:spPr>
        <p:txBody>
          <a:bodyPr wrap="square" lIns="0" tIns="0" rIns="0" bIns="0" rtlCol="0" anchor="ctr"/>
          <a:lstStyle/>
          <a:p>
            <a:pPr indent="0" marL="0">
              <a:buNone/>
            </a:pPr>
            <a:r>
              <a:rPr lang="en-US" sz="1300" b="1" spc="100" kern="0" dirty="0">
                <a:solidFill>
                  <a:srgbClr val="1A3A2A"/>
                </a:solidFill>
                <a:latin typeface="Calibri" pitchFamily="34" charset="0"/>
                <a:ea typeface="Calibri" pitchFamily="34" charset="-122"/>
                <a:cs typeface="Calibri" pitchFamily="34" charset="-120"/>
              </a:rPr>
              <a:t>HIGHEST-PRICED MARKETS</a:t>
            </a:r>
            <a:endParaRPr lang="en-US" sz="1300" dirty="0"/>
          </a:p>
        </p:txBody>
      </p:sp>
      <p:sp>
        <p:nvSpPr>
          <p:cNvPr id="6" name="Shape 3"/>
          <p:cNvSpPr/>
          <p:nvPr/>
        </p:nvSpPr>
        <p:spPr>
          <a:xfrm>
            <a:off x="5577840" y="1554480"/>
            <a:ext cx="3291840" cy="475488"/>
          </a:xfrm>
          <a:prstGeom prst="rect">
            <a:avLst/>
          </a:prstGeom>
          <a:solidFill>
            <a:srgbClr val="1A3A2A"/>
          </a:solidFill>
          <a:ln w="12700">
            <a:solidFill>
              <a:srgbClr val="E8EDF0"/>
            </a:solidFill>
            <a:prstDash val="solid"/>
          </a:ln>
        </p:spPr>
      </p:sp>
      <p:sp>
        <p:nvSpPr>
          <p:cNvPr id="7" name="Text 4"/>
          <p:cNvSpPr/>
          <p:nvPr/>
        </p:nvSpPr>
        <p:spPr>
          <a:xfrm>
            <a:off x="5669280" y="1572768"/>
            <a:ext cx="2194560" cy="228600"/>
          </a:xfrm>
          <a:prstGeom prst="rect">
            <a:avLst/>
          </a:prstGeom>
          <a:noFill/>
          <a:ln/>
        </p:spPr>
        <p:txBody>
          <a:bodyPr wrap="square" lIns="0" tIns="0" rIns="0" bIns="0" rtlCol="0" anchor="ctr"/>
          <a:lstStyle/>
          <a:p>
            <a:pPr indent="0" marL="0">
              <a:buNone/>
            </a:pPr>
            <a:r>
              <a:rPr lang="en-US" sz="1100" b="1" dirty="0">
                <a:solidFill>
                  <a:srgbClr val="8FBF4D"/>
                </a:solidFill>
                <a:latin typeface="Calibri" pitchFamily="34" charset="0"/>
                <a:ea typeface="Calibri" pitchFamily="34" charset="-122"/>
                <a:cs typeface="Calibri" pitchFamily="34" charset="-120"/>
              </a:rPr>
              <a:t>Hartford/Springfield</a:t>
            </a:r>
            <a:endParaRPr lang="en-US" sz="1100" dirty="0"/>
          </a:p>
        </p:txBody>
      </p:sp>
      <p:sp>
        <p:nvSpPr>
          <p:cNvPr id="8" name="Text 5"/>
          <p:cNvSpPr/>
          <p:nvPr/>
        </p:nvSpPr>
        <p:spPr>
          <a:xfrm>
            <a:off x="5669280" y="1792224"/>
            <a:ext cx="2194560" cy="182880"/>
          </a:xfrm>
          <a:prstGeom prst="rect">
            <a:avLst/>
          </a:prstGeom>
          <a:noFill/>
          <a:ln/>
        </p:spPr>
        <p:txBody>
          <a:bodyPr wrap="square" lIns="0" tIns="0" rIns="0" bIns="0" rtlCol="0" anchor="ctr"/>
          <a:lstStyle/>
          <a:p>
            <a:pPr indent="0" marL="0">
              <a:buNone/>
            </a:pPr>
            <a:r>
              <a:rPr lang="en-US" sz="900" dirty="0">
                <a:solidFill>
                  <a:srgbClr val="F4F1E8"/>
                </a:solidFill>
                <a:latin typeface="Calibri" pitchFamily="34" charset="0"/>
                <a:ea typeface="Calibri" pitchFamily="34" charset="-122"/>
                <a:cs typeface="Calibri" pitchFamily="34" charset="-120"/>
              </a:rPr>
              <a:t>Premium NE market</a:t>
            </a:r>
            <a:endParaRPr lang="en-US" sz="900" dirty="0"/>
          </a:p>
        </p:txBody>
      </p:sp>
      <p:sp>
        <p:nvSpPr>
          <p:cNvPr id="9" name="Text 6"/>
          <p:cNvSpPr/>
          <p:nvPr/>
        </p:nvSpPr>
        <p:spPr>
          <a:xfrm>
            <a:off x="7772400" y="1609344"/>
            <a:ext cx="1005840" cy="320040"/>
          </a:xfrm>
          <a:prstGeom prst="rect">
            <a:avLst/>
          </a:prstGeom>
          <a:noFill/>
          <a:ln/>
        </p:spPr>
        <p:txBody>
          <a:bodyPr wrap="square" lIns="0" tIns="0" rIns="0" bIns="0" rtlCol="0" anchor="ctr"/>
          <a:lstStyle/>
          <a:p>
            <a:pPr algn="r" indent="0" marL="0">
              <a:buNone/>
            </a:pPr>
            <a:r>
              <a:rPr lang="en-US" sz="1000" b="1" dirty="0">
                <a:solidFill>
                  <a:srgbClr val="8FBF4D"/>
                </a:solidFill>
                <a:latin typeface="Calibri" pitchFamily="34" charset="0"/>
                <a:ea typeface="Calibri" pitchFamily="34" charset="-122"/>
                <a:cs typeface="Calibri" pitchFamily="34" charset="-120"/>
              </a:rPr>
              <a:t>$6.15 avg sum</a:t>
            </a:r>
            <a:endParaRPr lang="en-US" sz="1000" dirty="0"/>
          </a:p>
        </p:txBody>
      </p:sp>
      <p:sp>
        <p:nvSpPr>
          <p:cNvPr id="10" name="Shape 7"/>
          <p:cNvSpPr/>
          <p:nvPr/>
        </p:nvSpPr>
        <p:spPr>
          <a:xfrm>
            <a:off x="5577840" y="2103120"/>
            <a:ext cx="3291840" cy="475488"/>
          </a:xfrm>
          <a:prstGeom prst="rect">
            <a:avLst/>
          </a:prstGeom>
          <a:solidFill>
            <a:srgbClr val="FFFFFF"/>
          </a:solidFill>
          <a:ln w="12700">
            <a:solidFill>
              <a:srgbClr val="E8EDF0"/>
            </a:solidFill>
            <a:prstDash val="solid"/>
          </a:ln>
        </p:spPr>
      </p:sp>
      <p:sp>
        <p:nvSpPr>
          <p:cNvPr id="11" name="Text 8"/>
          <p:cNvSpPr/>
          <p:nvPr/>
        </p:nvSpPr>
        <p:spPr>
          <a:xfrm>
            <a:off x="5669280" y="2121408"/>
            <a:ext cx="2194560" cy="228600"/>
          </a:xfrm>
          <a:prstGeom prst="rect">
            <a:avLst/>
          </a:prstGeom>
          <a:noFill/>
          <a:ln/>
        </p:spPr>
        <p:txBody>
          <a:bodyPr wrap="square" lIns="0" tIns="0" rIns="0" bIns="0" rtlCol="0" anchor="ctr"/>
          <a:lstStyle/>
          <a:p>
            <a:pPr indent="0" marL="0">
              <a:buNone/>
            </a:pPr>
            <a:r>
              <a:rPr lang="en-US" sz="1100" b="1" dirty="0">
                <a:solidFill>
                  <a:srgbClr val="1A3A2A"/>
                </a:solidFill>
                <a:latin typeface="Calibri" pitchFamily="34" charset="0"/>
                <a:ea typeface="Calibri" pitchFamily="34" charset="-122"/>
                <a:cs typeface="Calibri" pitchFamily="34" charset="-120"/>
              </a:rPr>
              <a:t>San Francisco</a:t>
            </a:r>
            <a:endParaRPr lang="en-US" sz="1100" dirty="0"/>
          </a:p>
        </p:txBody>
      </p:sp>
      <p:sp>
        <p:nvSpPr>
          <p:cNvPr id="12" name="Text 9"/>
          <p:cNvSpPr/>
          <p:nvPr/>
        </p:nvSpPr>
        <p:spPr>
          <a:xfrm>
            <a:off x="5669280" y="2340864"/>
            <a:ext cx="219456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High cost-of-living</a:t>
            </a:r>
            <a:endParaRPr lang="en-US" sz="900" dirty="0"/>
          </a:p>
        </p:txBody>
      </p:sp>
      <p:sp>
        <p:nvSpPr>
          <p:cNvPr id="13" name="Text 10"/>
          <p:cNvSpPr/>
          <p:nvPr/>
        </p:nvSpPr>
        <p:spPr>
          <a:xfrm>
            <a:off x="7772400" y="2157984"/>
            <a:ext cx="1005840" cy="320040"/>
          </a:xfrm>
          <a:prstGeom prst="rect">
            <a:avLst/>
          </a:prstGeom>
          <a:noFill/>
          <a:ln/>
        </p:spPr>
        <p:txBody>
          <a:bodyPr wrap="square" lIns="0" tIns="0" rIns="0" bIns="0" rtlCol="0" anchor="ctr"/>
          <a:lstStyle/>
          <a:p>
            <a:pPr algn="r" indent="0" marL="0">
              <a:buNone/>
            </a:pPr>
            <a:r>
              <a:rPr lang="en-US" sz="1000" b="1" dirty="0">
                <a:solidFill>
                  <a:srgbClr val="5A9A4A"/>
                </a:solidFill>
                <a:latin typeface="Calibri" pitchFamily="34" charset="0"/>
                <a:ea typeface="Calibri" pitchFamily="34" charset="-122"/>
                <a:cs typeface="Calibri" pitchFamily="34" charset="-120"/>
              </a:rPr>
              <a:t>$6.10 avg sum</a:t>
            </a:r>
            <a:endParaRPr lang="en-US" sz="1000" dirty="0"/>
          </a:p>
        </p:txBody>
      </p:sp>
      <p:sp>
        <p:nvSpPr>
          <p:cNvPr id="14" name="Shape 11"/>
          <p:cNvSpPr/>
          <p:nvPr/>
        </p:nvSpPr>
        <p:spPr>
          <a:xfrm>
            <a:off x="5577840" y="2651760"/>
            <a:ext cx="3291840" cy="475488"/>
          </a:xfrm>
          <a:prstGeom prst="rect">
            <a:avLst/>
          </a:prstGeom>
          <a:solidFill>
            <a:srgbClr val="FFFFFF"/>
          </a:solidFill>
          <a:ln w="12700">
            <a:solidFill>
              <a:srgbClr val="E8EDF0"/>
            </a:solidFill>
            <a:prstDash val="solid"/>
          </a:ln>
        </p:spPr>
      </p:sp>
      <p:sp>
        <p:nvSpPr>
          <p:cNvPr id="15" name="Text 12"/>
          <p:cNvSpPr/>
          <p:nvPr/>
        </p:nvSpPr>
        <p:spPr>
          <a:xfrm>
            <a:off x="5669280" y="2670048"/>
            <a:ext cx="2194560" cy="228600"/>
          </a:xfrm>
          <a:prstGeom prst="rect">
            <a:avLst/>
          </a:prstGeom>
          <a:noFill/>
          <a:ln/>
        </p:spPr>
        <p:txBody>
          <a:bodyPr wrap="square" lIns="0" tIns="0" rIns="0" bIns="0" rtlCol="0" anchor="ctr"/>
          <a:lstStyle/>
          <a:p>
            <a:pPr indent="0" marL="0">
              <a:buNone/>
            </a:pPr>
            <a:r>
              <a:rPr lang="en-US" sz="1100" b="1" dirty="0">
                <a:solidFill>
                  <a:srgbClr val="1A3A2A"/>
                </a:solidFill>
                <a:latin typeface="Calibri" pitchFamily="34" charset="0"/>
                <a:ea typeface="Calibri" pitchFamily="34" charset="-122"/>
                <a:cs typeface="Calibri" pitchFamily="34" charset="-120"/>
              </a:rPr>
              <a:t>New York</a:t>
            </a:r>
            <a:endParaRPr lang="en-US" sz="1100" dirty="0"/>
          </a:p>
        </p:txBody>
      </p:sp>
      <p:sp>
        <p:nvSpPr>
          <p:cNvPr id="16" name="Text 13"/>
          <p:cNvSpPr/>
          <p:nvPr/>
        </p:nvSpPr>
        <p:spPr>
          <a:xfrm>
            <a:off x="5669280" y="2889504"/>
            <a:ext cx="219456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Dense metro premium</a:t>
            </a:r>
            <a:endParaRPr lang="en-US" sz="900" dirty="0"/>
          </a:p>
        </p:txBody>
      </p:sp>
      <p:sp>
        <p:nvSpPr>
          <p:cNvPr id="17" name="Text 14"/>
          <p:cNvSpPr/>
          <p:nvPr/>
        </p:nvSpPr>
        <p:spPr>
          <a:xfrm>
            <a:off x="7772400" y="2706624"/>
            <a:ext cx="1005840" cy="320040"/>
          </a:xfrm>
          <a:prstGeom prst="rect">
            <a:avLst/>
          </a:prstGeom>
          <a:noFill/>
          <a:ln/>
        </p:spPr>
        <p:txBody>
          <a:bodyPr wrap="square" lIns="0" tIns="0" rIns="0" bIns="0" rtlCol="0" anchor="ctr"/>
          <a:lstStyle/>
          <a:p>
            <a:pPr algn="r" indent="0" marL="0">
              <a:buNone/>
            </a:pPr>
            <a:r>
              <a:rPr lang="en-US" sz="1000" b="1" dirty="0">
                <a:solidFill>
                  <a:srgbClr val="5A9A4A"/>
                </a:solidFill>
                <a:latin typeface="Calibri" pitchFamily="34" charset="0"/>
                <a:ea typeface="Calibri" pitchFamily="34" charset="-122"/>
                <a:cs typeface="Calibri" pitchFamily="34" charset="-120"/>
              </a:rPr>
              <a:t>$5.84 avg sum</a:t>
            </a:r>
            <a:endParaRPr lang="en-US" sz="1000" dirty="0"/>
          </a:p>
        </p:txBody>
      </p:sp>
      <p:sp>
        <p:nvSpPr>
          <p:cNvPr id="18" name="Shape 15"/>
          <p:cNvSpPr/>
          <p:nvPr/>
        </p:nvSpPr>
        <p:spPr>
          <a:xfrm>
            <a:off x="5577840" y="3200400"/>
            <a:ext cx="3291840" cy="475488"/>
          </a:xfrm>
          <a:prstGeom prst="rect">
            <a:avLst/>
          </a:prstGeom>
          <a:solidFill>
            <a:srgbClr val="FFFFFF"/>
          </a:solidFill>
          <a:ln w="12700">
            <a:solidFill>
              <a:srgbClr val="E8EDF0"/>
            </a:solidFill>
            <a:prstDash val="solid"/>
          </a:ln>
        </p:spPr>
      </p:sp>
      <p:sp>
        <p:nvSpPr>
          <p:cNvPr id="19" name="Text 16"/>
          <p:cNvSpPr/>
          <p:nvPr/>
        </p:nvSpPr>
        <p:spPr>
          <a:xfrm>
            <a:off x="5669280" y="3218688"/>
            <a:ext cx="2194560" cy="228600"/>
          </a:xfrm>
          <a:prstGeom prst="rect">
            <a:avLst/>
          </a:prstGeom>
          <a:noFill/>
          <a:ln/>
        </p:spPr>
        <p:txBody>
          <a:bodyPr wrap="square" lIns="0" tIns="0" rIns="0" bIns="0" rtlCol="0" anchor="ctr"/>
          <a:lstStyle/>
          <a:p>
            <a:pPr indent="0" marL="0">
              <a:buNone/>
            </a:pPr>
            <a:r>
              <a:rPr lang="en-US" sz="1100" b="1" dirty="0">
                <a:solidFill>
                  <a:srgbClr val="1A3A2A"/>
                </a:solidFill>
                <a:latin typeface="Calibri" pitchFamily="34" charset="0"/>
                <a:ea typeface="Calibri" pitchFamily="34" charset="-122"/>
                <a:cs typeface="Calibri" pitchFamily="34" charset="-120"/>
              </a:rPr>
              <a:t>Philadelphia</a:t>
            </a:r>
            <a:endParaRPr lang="en-US" sz="1100" dirty="0"/>
          </a:p>
        </p:txBody>
      </p:sp>
      <p:sp>
        <p:nvSpPr>
          <p:cNvPr id="20" name="Text 17"/>
          <p:cNvSpPr/>
          <p:nvPr/>
        </p:nvSpPr>
        <p:spPr>
          <a:xfrm>
            <a:off x="5669280" y="3438144"/>
            <a:ext cx="219456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Mid-Atlantic market</a:t>
            </a:r>
            <a:endParaRPr lang="en-US" sz="900" dirty="0"/>
          </a:p>
        </p:txBody>
      </p:sp>
      <p:sp>
        <p:nvSpPr>
          <p:cNvPr id="21" name="Text 18"/>
          <p:cNvSpPr/>
          <p:nvPr/>
        </p:nvSpPr>
        <p:spPr>
          <a:xfrm>
            <a:off x="7772400" y="3255264"/>
            <a:ext cx="1005840" cy="320040"/>
          </a:xfrm>
          <a:prstGeom prst="rect">
            <a:avLst/>
          </a:prstGeom>
          <a:noFill/>
          <a:ln/>
        </p:spPr>
        <p:txBody>
          <a:bodyPr wrap="square" lIns="0" tIns="0" rIns="0" bIns="0" rtlCol="0" anchor="ctr"/>
          <a:lstStyle/>
          <a:p>
            <a:pPr algn="r" indent="0" marL="0">
              <a:buNone/>
            </a:pPr>
            <a:r>
              <a:rPr lang="en-US" sz="1000" b="1" dirty="0">
                <a:solidFill>
                  <a:srgbClr val="5A9A4A"/>
                </a:solidFill>
                <a:latin typeface="Calibri" pitchFamily="34" charset="0"/>
                <a:ea typeface="Calibri" pitchFamily="34" charset="-122"/>
                <a:cs typeface="Calibri" pitchFamily="34" charset="-120"/>
              </a:rPr>
              <a:t>$5.52 avg sum</a:t>
            </a:r>
            <a:endParaRPr lang="en-US" sz="1000" dirty="0"/>
          </a:p>
        </p:txBody>
      </p:sp>
      <p:sp>
        <p:nvSpPr>
          <p:cNvPr id="22" name="Shape 19"/>
          <p:cNvSpPr/>
          <p:nvPr/>
        </p:nvSpPr>
        <p:spPr>
          <a:xfrm>
            <a:off x="5577840" y="3749040"/>
            <a:ext cx="3291840" cy="475488"/>
          </a:xfrm>
          <a:prstGeom prst="rect">
            <a:avLst/>
          </a:prstGeom>
          <a:solidFill>
            <a:srgbClr val="FFFFFF"/>
          </a:solidFill>
          <a:ln w="12700">
            <a:solidFill>
              <a:srgbClr val="E8EDF0"/>
            </a:solidFill>
            <a:prstDash val="solid"/>
          </a:ln>
        </p:spPr>
      </p:sp>
      <p:sp>
        <p:nvSpPr>
          <p:cNvPr id="23" name="Text 20"/>
          <p:cNvSpPr/>
          <p:nvPr/>
        </p:nvSpPr>
        <p:spPr>
          <a:xfrm>
            <a:off x="5669280" y="3767328"/>
            <a:ext cx="2194560" cy="228600"/>
          </a:xfrm>
          <a:prstGeom prst="rect">
            <a:avLst/>
          </a:prstGeom>
          <a:noFill/>
          <a:ln/>
        </p:spPr>
        <p:txBody>
          <a:bodyPr wrap="square" lIns="0" tIns="0" rIns="0" bIns="0" rtlCol="0" anchor="ctr"/>
          <a:lstStyle/>
          <a:p>
            <a:pPr indent="0" marL="0">
              <a:buNone/>
            </a:pPr>
            <a:r>
              <a:rPr lang="en-US" sz="1100" b="1" dirty="0">
                <a:solidFill>
                  <a:srgbClr val="1A3A2A"/>
                </a:solidFill>
                <a:latin typeface="Calibri" pitchFamily="34" charset="0"/>
                <a:ea typeface="Calibri" pitchFamily="34" charset="-122"/>
                <a:cs typeface="Calibri" pitchFamily="34" charset="-120"/>
              </a:rPr>
              <a:t>Sacramento</a:t>
            </a:r>
            <a:endParaRPr lang="en-US" sz="1100" dirty="0"/>
          </a:p>
        </p:txBody>
      </p:sp>
      <p:sp>
        <p:nvSpPr>
          <p:cNvPr id="24" name="Text 21"/>
          <p:cNvSpPr/>
          <p:nvPr/>
        </p:nvSpPr>
        <p:spPr>
          <a:xfrm>
            <a:off x="5669280" y="3986784"/>
            <a:ext cx="219456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Central CA</a:t>
            </a:r>
            <a:endParaRPr lang="en-US" sz="900" dirty="0"/>
          </a:p>
        </p:txBody>
      </p:sp>
      <p:sp>
        <p:nvSpPr>
          <p:cNvPr id="25" name="Text 22"/>
          <p:cNvSpPr/>
          <p:nvPr/>
        </p:nvSpPr>
        <p:spPr>
          <a:xfrm>
            <a:off x="7772400" y="3803904"/>
            <a:ext cx="1005840" cy="320040"/>
          </a:xfrm>
          <a:prstGeom prst="rect">
            <a:avLst/>
          </a:prstGeom>
          <a:noFill/>
          <a:ln/>
        </p:spPr>
        <p:txBody>
          <a:bodyPr wrap="square" lIns="0" tIns="0" rIns="0" bIns="0" rtlCol="0" anchor="ctr"/>
          <a:lstStyle/>
          <a:p>
            <a:pPr algn="r" indent="0" marL="0">
              <a:buNone/>
            </a:pPr>
            <a:r>
              <a:rPr lang="en-US" sz="1000" b="1" dirty="0">
                <a:solidFill>
                  <a:srgbClr val="5A9A4A"/>
                </a:solidFill>
                <a:latin typeface="Calibri" pitchFamily="34" charset="0"/>
                <a:ea typeface="Calibri" pitchFamily="34" charset="-122"/>
                <a:cs typeface="Calibri" pitchFamily="34" charset="-120"/>
              </a:rPr>
              <a:t>$5.48 avg sum</a:t>
            </a:r>
            <a:endParaRPr lang="en-US" sz="1000" dirty="0"/>
          </a:p>
        </p:txBody>
      </p:sp>
      <p:sp>
        <p:nvSpPr>
          <p:cNvPr id="26" name="Text 23"/>
          <p:cNvSpPr/>
          <p:nvPr/>
        </p:nvSpPr>
        <p:spPr>
          <a:xfrm>
            <a:off x="457200" y="4480560"/>
            <a:ext cx="8229600" cy="41148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West Coast markets (LA, SF) enjoy lower unit prices due to proximity to California farms and Mexican import corridors.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3A2A"/>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3200" b="1" spc="400" kern="0" dirty="0">
                <a:solidFill>
                  <a:srgbClr val="8FBF4D"/>
                </a:solidFill>
                <a:latin typeface="Calibri" pitchFamily="34" charset="0"/>
                <a:ea typeface="Calibri" pitchFamily="34" charset="-122"/>
                <a:cs typeface="Calibri" pitchFamily="34" charset="-120"/>
              </a:rPr>
              <a:t>KEY FINDINGS</a:t>
            </a:r>
            <a:endParaRPr lang="en-US" sz="3200" dirty="0"/>
          </a:p>
        </p:txBody>
      </p:sp>
      <p:sp>
        <p:nvSpPr>
          <p:cNvPr id="3" name="Shape 1"/>
          <p:cNvSpPr/>
          <p:nvPr/>
        </p:nvSpPr>
        <p:spPr>
          <a:xfrm>
            <a:off x="365760" y="1051560"/>
            <a:ext cx="4114800" cy="1143000"/>
          </a:xfrm>
          <a:prstGeom prst="rect">
            <a:avLst/>
          </a:prstGeom>
          <a:solidFill>
            <a:srgbClr val="2C6E3F">
              <a:alpha val="80000"/>
            </a:srgbClr>
          </a:solidFill>
          <a:ln w="12700">
            <a:solidFill>
              <a:srgbClr val="5A9A4A"/>
            </a:solidFill>
            <a:prstDash val="solid"/>
          </a:ln>
        </p:spPr>
      </p:sp>
      <p:sp>
        <p:nvSpPr>
          <p:cNvPr id="4" name="Text 2"/>
          <p:cNvSpPr/>
          <p:nvPr/>
        </p:nvSpPr>
        <p:spPr>
          <a:xfrm>
            <a:off x="457200" y="1124712"/>
            <a:ext cx="502920" cy="502920"/>
          </a:xfrm>
          <a:prstGeom prst="rect">
            <a:avLst/>
          </a:prstGeom>
          <a:noFill/>
          <a:ln/>
        </p:spPr>
        <p:txBody>
          <a:bodyPr wrap="square" lIns="0" tIns="0" rIns="0" bIns="0" rtlCol="0" anchor="ctr"/>
          <a:lstStyle/>
          <a:p>
            <a:pPr indent="0" marL="0">
              <a:buNone/>
            </a:pPr>
            <a:r>
              <a:rPr lang="en-US" sz="2200" b="1" dirty="0">
                <a:solidFill>
                  <a:srgbClr val="8FBF4D"/>
                </a:solidFill>
                <a:latin typeface="Calibri" pitchFamily="34" charset="0"/>
                <a:ea typeface="Calibri" pitchFamily="34" charset="-122"/>
                <a:cs typeface="Calibri" pitchFamily="34" charset="-120"/>
              </a:rPr>
              <a:t>01</a:t>
            </a:r>
            <a:endParaRPr lang="en-US" sz="2200" dirty="0"/>
          </a:p>
        </p:txBody>
      </p:sp>
      <p:sp>
        <p:nvSpPr>
          <p:cNvPr id="5" name="Text 3"/>
          <p:cNvSpPr/>
          <p:nvPr/>
        </p:nvSpPr>
        <p:spPr>
          <a:xfrm>
            <a:off x="1005840" y="1143000"/>
            <a:ext cx="3383280" cy="320040"/>
          </a:xfrm>
          <a:prstGeom prst="rect">
            <a:avLst/>
          </a:prstGeom>
          <a:noFill/>
          <a:ln/>
        </p:spPr>
        <p:txBody>
          <a:bodyPr wrap="square" lIns="0" tIns="0" rIns="0" bIns="0" rtlCol="0" anchor="ctr"/>
          <a:lstStyle/>
          <a:p>
            <a:pPr indent="0" marL="0">
              <a:buNone/>
            </a:pPr>
            <a:r>
              <a:rPr lang="en-US" sz="1300" b="1" dirty="0">
                <a:solidFill>
                  <a:srgbClr val="8FBF4D"/>
                </a:solidFill>
                <a:latin typeface="Calibri" pitchFamily="34" charset="0"/>
                <a:ea typeface="Calibri" pitchFamily="34" charset="-122"/>
                <a:cs typeface="Calibri" pitchFamily="34" charset="-120"/>
              </a:rPr>
              <a:t>The Avocado Paradox</a:t>
            </a:r>
            <a:endParaRPr lang="en-US" sz="1300" dirty="0"/>
          </a:p>
        </p:txBody>
      </p:sp>
      <p:sp>
        <p:nvSpPr>
          <p:cNvPr id="6" name="Text 4"/>
          <p:cNvSpPr/>
          <p:nvPr/>
        </p:nvSpPr>
        <p:spPr>
          <a:xfrm>
            <a:off x="1005840" y="1490472"/>
            <a:ext cx="3383280" cy="594360"/>
          </a:xfrm>
          <a:prstGeom prst="rect">
            <a:avLst/>
          </a:prstGeom>
          <a:noFill/>
          <a:ln/>
        </p:spPr>
        <p:txBody>
          <a:bodyPr wrap="square" lIns="0" tIns="0" rIns="0" bIns="0" rtlCol="0" anchor="ctr"/>
          <a:lstStyle/>
          <a:p>
            <a:pPr indent="0" marL="0">
              <a:buNone/>
            </a:pPr>
            <a:r>
              <a:rPr lang="en-US" sz="1100" dirty="0">
                <a:solidFill>
                  <a:srgbClr val="F4F1E8"/>
                </a:solidFill>
                <a:latin typeface="Calibri" pitchFamily="34" charset="0"/>
                <a:ea typeface="Calibri" pitchFamily="34" charset="-122"/>
                <a:cs typeface="Calibri" pitchFamily="34" charset="-120"/>
              </a:rPr>
              <a:t>In 2017, prices rose 13% AND volume grew — driven by the viral avocado toast trend making demand price-inelastic.</a:t>
            </a:r>
            <a:endParaRPr lang="en-US" sz="1100" dirty="0"/>
          </a:p>
        </p:txBody>
      </p:sp>
      <p:sp>
        <p:nvSpPr>
          <p:cNvPr id="7" name="Shape 5"/>
          <p:cNvSpPr/>
          <p:nvPr/>
        </p:nvSpPr>
        <p:spPr>
          <a:xfrm>
            <a:off x="365760" y="2286000"/>
            <a:ext cx="4114800" cy="1143000"/>
          </a:xfrm>
          <a:prstGeom prst="rect">
            <a:avLst/>
          </a:prstGeom>
          <a:solidFill>
            <a:srgbClr val="2C6E3F">
              <a:alpha val="80000"/>
            </a:srgbClr>
          </a:solidFill>
          <a:ln w="12700">
            <a:solidFill>
              <a:srgbClr val="5A9A4A"/>
            </a:solidFill>
            <a:prstDash val="solid"/>
          </a:ln>
        </p:spPr>
      </p:sp>
      <p:sp>
        <p:nvSpPr>
          <p:cNvPr id="8" name="Text 6"/>
          <p:cNvSpPr/>
          <p:nvPr/>
        </p:nvSpPr>
        <p:spPr>
          <a:xfrm>
            <a:off x="457200" y="2359152"/>
            <a:ext cx="502920" cy="502920"/>
          </a:xfrm>
          <a:prstGeom prst="rect">
            <a:avLst/>
          </a:prstGeom>
          <a:noFill/>
          <a:ln/>
        </p:spPr>
        <p:txBody>
          <a:bodyPr wrap="square" lIns="0" tIns="0" rIns="0" bIns="0" rtlCol="0" anchor="ctr"/>
          <a:lstStyle/>
          <a:p>
            <a:pPr indent="0" marL="0">
              <a:buNone/>
            </a:pPr>
            <a:r>
              <a:rPr lang="en-US" sz="2200" b="1" dirty="0">
                <a:solidFill>
                  <a:srgbClr val="8FBF4D"/>
                </a:solidFill>
                <a:latin typeface="Calibri" pitchFamily="34" charset="0"/>
                <a:ea typeface="Calibri" pitchFamily="34" charset="-122"/>
                <a:cs typeface="Calibri" pitchFamily="34" charset="-120"/>
              </a:rPr>
              <a:t>02</a:t>
            </a:r>
            <a:endParaRPr lang="en-US" sz="2200" dirty="0"/>
          </a:p>
        </p:txBody>
      </p:sp>
      <p:sp>
        <p:nvSpPr>
          <p:cNvPr id="9" name="Text 7"/>
          <p:cNvSpPr/>
          <p:nvPr/>
        </p:nvSpPr>
        <p:spPr>
          <a:xfrm>
            <a:off x="1005840" y="2377440"/>
            <a:ext cx="3383280" cy="320040"/>
          </a:xfrm>
          <a:prstGeom prst="rect">
            <a:avLst/>
          </a:prstGeom>
          <a:noFill/>
          <a:ln/>
        </p:spPr>
        <p:txBody>
          <a:bodyPr wrap="square" lIns="0" tIns="0" rIns="0" bIns="0" rtlCol="0" anchor="ctr"/>
          <a:lstStyle/>
          <a:p>
            <a:pPr indent="0" marL="0">
              <a:buNone/>
            </a:pPr>
            <a:r>
              <a:rPr lang="en-US" sz="1300" b="1" dirty="0">
                <a:solidFill>
                  <a:srgbClr val="8FBF4D"/>
                </a:solidFill>
                <a:latin typeface="Calibri" pitchFamily="34" charset="0"/>
                <a:ea typeface="Calibri" pitchFamily="34" charset="-122"/>
                <a:cs typeface="Calibri" pitchFamily="34" charset="-120"/>
              </a:rPr>
              <a:t>Small is King</a:t>
            </a:r>
            <a:endParaRPr lang="en-US" sz="1300" dirty="0"/>
          </a:p>
        </p:txBody>
      </p:sp>
      <p:sp>
        <p:nvSpPr>
          <p:cNvPr id="10" name="Text 8"/>
          <p:cNvSpPr/>
          <p:nvPr/>
        </p:nvSpPr>
        <p:spPr>
          <a:xfrm>
            <a:off x="1005840" y="2724912"/>
            <a:ext cx="3383280" cy="594360"/>
          </a:xfrm>
          <a:prstGeom prst="rect">
            <a:avLst/>
          </a:prstGeom>
          <a:noFill/>
          <a:ln/>
        </p:spPr>
        <p:txBody>
          <a:bodyPr wrap="square" lIns="0" tIns="0" rIns="0" bIns="0" rtlCol="0" anchor="ctr"/>
          <a:lstStyle/>
          <a:p>
            <a:pPr indent="0" marL="0">
              <a:buNone/>
            </a:pPr>
            <a:r>
              <a:rPr lang="en-US" sz="1100" dirty="0">
                <a:solidFill>
                  <a:srgbClr val="F4F1E8"/>
                </a:solidFill>
                <a:latin typeface="Calibri" pitchFamily="34" charset="0"/>
                <a:ea typeface="Calibri" pitchFamily="34" charset="-122"/>
                <a:cs typeface="Calibri" pitchFamily="34" charset="-120"/>
              </a:rPr>
              <a:t>PLU 4046 small Hass accounts for ~49% of PLU-coded sales. Ideal single-serve size drives mass adoption.</a:t>
            </a:r>
            <a:endParaRPr lang="en-US" sz="1100" dirty="0"/>
          </a:p>
        </p:txBody>
      </p:sp>
      <p:sp>
        <p:nvSpPr>
          <p:cNvPr id="11" name="Shape 9"/>
          <p:cNvSpPr/>
          <p:nvPr/>
        </p:nvSpPr>
        <p:spPr>
          <a:xfrm>
            <a:off x="365760" y="3520440"/>
            <a:ext cx="4114800" cy="1143000"/>
          </a:xfrm>
          <a:prstGeom prst="rect">
            <a:avLst/>
          </a:prstGeom>
          <a:solidFill>
            <a:srgbClr val="2C6E3F">
              <a:alpha val="80000"/>
            </a:srgbClr>
          </a:solidFill>
          <a:ln w="12700">
            <a:solidFill>
              <a:srgbClr val="5A9A4A"/>
            </a:solidFill>
            <a:prstDash val="solid"/>
          </a:ln>
        </p:spPr>
      </p:sp>
      <p:sp>
        <p:nvSpPr>
          <p:cNvPr id="12" name="Text 10"/>
          <p:cNvSpPr/>
          <p:nvPr/>
        </p:nvSpPr>
        <p:spPr>
          <a:xfrm>
            <a:off x="457200" y="3593592"/>
            <a:ext cx="502920" cy="502920"/>
          </a:xfrm>
          <a:prstGeom prst="rect">
            <a:avLst/>
          </a:prstGeom>
          <a:noFill/>
          <a:ln/>
        </p:spPr>
        <p:txBody>
          <a:bodyPr wrap="square" lIns="0" tIns="0" rIns="0" bIns="0" rtlCol="0" anchor="ctr"/>
          <a:lstStyle/>
          <a:p>
            <a:pPr indent="0" marL="0">
              <a:buNone/>
            </a:pPr>
            <a:r>
              <a:rPr lang="en-US" sz="2200" b="1" dirty="0">
                <a:solidFill>
                  <a:srgbClr val="8FBF4D"/>
                </a:solidFill>
                <a:latin typeface="Calibri" pitchFamily="34" charset="0"/>
                <a:ea typeface="Calibri" pitchFamily="34" charset="-122"/>
                <a:cs typeface="Calibri" pitchFamily="34" charset="-120"/>
              </a:rPr>
              <a:t>03</a:t>
            </a:r>
            <a:endParaRPr lang="en-US" sz="2200" dirty="0"/>
          </a:p>
        </p:txBody>
      </p:sp>
      <p:sp>
        <p:nvSpPr>
          <p:cNvPr id="13" name="Text 11"/>
          <p:cNvSpPr/>
          <p:nvPr/>
        </p:nvSpPr>
        <p:spPr>
          <a:xfrm>
            <a:off x="1005840" y="3611880"/>
            <a:ext cx="3383280" cy="320040"/>
          </a:xfrm>
          <a:prstGeom prst="rect">
            <a:avLst/>
          </a:prstGeom>
          <a:noFill/>
          <a:ln/>
        </p:spPr>
        <p:txBody>
          <a:bodyPr wrap="square" lIns="0" tIns="0" rIns="0" bIns="0" rtlCol="0" anchor="ctr"/>
          <a:lstStyle/>
          <a:p>
            <a:pPr indent="0" marL="0">
              <a:buNone/>
            </a:pPr>
            <a:r>
              <a:rPr lang="en-US" sz="1300" b="1" dirty="0">
                <a:solidFill>
                  <a:srgbClr val="8FBF4D"/>
                </a:solidFill>
                <a:latin typeface="Calibri" pitchFamily="34" charset="0"/>
                <a:ea typeface="Calibri" pitchFamily="34" charset="-122"/>
                <a:cs typeface="Calibri" pitchFamily="34" charset="-120"/>
              </a:rPr>
              <a:t>Organic = Premium Margin</a:t>
            </a:r>
            <a:endParaRPr lang="en-US" sz="1300" dirty="0"/>
          </a:p>
        </p:txBody>
      </p:sp>
      <p:sp>
        <p:nvSpPr>
          <p:cNvPr id="14" name="Text 12"/>
          <p:cNvSpPr/>
          <p:nvPr/>
        </p:nvSpPr>
        <p:spPr>
          <a:xfrm>
            <a:off x="1005840" y="3959352"/>
            <a:ext cx="3383280" cy="594360"/>
          </a:xfrm>
          <a:prstGeom prst="rect">
            <a:avLst/>
          </a:prstGeom>
          <a:noFill/>
          <a:ln/>
        </p:spPr>
        <p:txBody>
          <a:bodyPr wrap="square" lIns="0" tIns="0" rIns="0" bIns="0" rtlCol="0" anchor="ctr"/>
          <a:lstStyle/>
          <a:p>
            <a:pPr indent="0" marL="0">
              <a:buNone/>
            </a:pPr>
            <a:r>
              <a:rPr lang="en-US" sz="1100" dirty="0">
                <a:solidFill>
                  <a:srgbClr val="F4F1E8"/>
                </a:solidFill>
                <a:latin typeface="Calibri" pitchFamily="34" charset="0"/>
                <a:ea typeface="Calibri" pitchFamily="34" charset="-122"/>
                <a:cs typeface="Calibri" pitchFamily="34" charset="-120"/>
              </a:rPr>
              <a:t>Organic commands 42% higher prices ($1.65 vs $1.16). A high-margin, fast-growing category for retailers.</a:t>
            </a:r>
            <a:endParaRPr lang="en-US" sz="1100" dirty="0"/>
          </a:p>
        </p:txBody>
      </p:sp>
      <p:sp>
        <p:nvSpPr>
          <p:cNvPr id="15" name="Shape 13"/>
          <p:cNvSpPr/>
          <p:nvPr/>
        </p:nvSpPr>
        <p:spPr>
          <a:xfrm>
            <a:off x="4846320" y="1051560"/>
            <a:ext cx="4114800" cy="1143000"/>
          </a:xfrm>
          <a:prstGeom prst="rect">
            <a:avLst/>
          </a:prstGeom>
          <a:solidFill>
            <a:srgbClr val="2C6E3F">
              <a:alpha val="80000"/>
            </a:srgbClr>
          </a:solidFill>
          <a:ln w="12700">
            <a:solidFill>
              <a:srgbClr val="5A9A4A"/>
            </a:solidFill>
            <a:prstDash val="solid"/>
          </a:ln>
        </p:spPr>
      </p:sp>
      <p:sp>
        <p:nvSpPr>
          <p:cNvPr id="16" name="Text 14"/>
          <p:cNvSpPr/>
          <p:nvPr/>
        </p:nvSpPr>
        <p:spPr>
          <a:xfrm>
            <a:off x="4937760" y="1124712"/>
            <a:ext cx="502920" cy="502920"/>
          </a:xfrm>
          <a:prstGeom prst="rect">
            <a:avLst/>
          </a:prstGeom>
          <a:noFill/>
          <a:ln/>
        </p:spPr>
        <p:txBody>
          <a:bodyPr wrap="square" lIns="0" tIns="0" rIns="0" bIns="0" rtlCol="0" anchor="ctr"/>
          <a:lstStyle/>
          <a:p>
            <a:pPr indent="0" marL="0">
              <a:buNone/>
            </a:pPr>
            <a:r>
              <a:rPr lang="en-US" sz="2200" b="1" dirty="0">
                <a:solidFill>
                  <a:srgbClr val="8FBF4D"/>
                </a:solidFill>
                <a:latin typeface="Calibri" pitchFamily="34" charset="0"/>
                <a:ea typeface="Calibri" pitchFamily="34" charset="-122"/>
                <a:cs typeface="Calibri" pitchFamily="34" charset="-120"/>
              </a:rPr>
              <a:t>04</a:t>
            </a:r>
            <a:endParaRPr lang="en-US" sz="2200" dirty="0"/>
          </a:p>
        </p:txBody>
      </p:sp>
      <p:sp>
        <p:nvSpPr>
          <p:cNvPr id="17" name="Text 15"/>
          <p:cNvSpPr/>
          <p:nvPr/>
        </p:nvSpPr>
        <p:spPr>
          <a:xfrm>
            <a:off x="5486400" y="1143000"/>
            <a:ext cx="3383280" cy="320040"/>
          </a:xfrm>
          <a:prstGeom prst="rect">
            <a:avLst/>
          </a:prstGeom>
          <a:noFill/>
          <a:ln/>
        </p:spPr>
        <p:txBody>
          <a:bodyPr wrap="square" lIns="0" tIns="0" rIns="0" bIns="0" rtlCol="0" anchor="ctr"/>
          <a:lstStyle/>
          <a:p>
            <a:pPr indent="0" marL="0">
              <a:buNone/>
            </a:pPr>
            <a:r>
              <a:rPr lang="en-US" sz="1300" b="1" dirty="0">
                <a:solidFill>
                  <a:srgbClr val="8FBF4D"/>
                </a:solidFill>
                <a:latin typeface="Calibri" pitchFamily="34" charset="0"/>
                <a:ea typeface="Calibri" pitchFamily="34" charset="-122"/>
                <a:cs typeface="Calibri" pitchFamily="34" charset="-120"/>
              </a:rPr>
              <a:t>Seasonal Windows</a:t>
            </a:r>
            <a:endParaRPr lang="en-US" sz="1300" dirty="0"/>
          </a:p>
        </p:txBody>
      </p:sp>
      <p:sp>
        <p:nvSpPr>
          <p:cNvPr id="18" name="Text 16"/>
          <p:cNvSpPr/>
          <p:nvPr/>
        </p:nvSpPr>
        <p:spPr>
          <a:xfrm>
            <a:off x="5486400" y="1490472"/>
            <a:ext cx="3383280" cy="594360"/>
          </a:xfrm>
          <a:prstGeom prst="rect">
            <a:avLst/>
          </a:prstGeom>
          <a:noFill/>
          <a:ln/>
        </p:spPr>
        <p:txBody>
          <a:bodyPr wrap="square" lIns="0" tIns="0" rIns="0" bIns="0" rtlCol="0" anchor="ctr"/>
          <a:lstStyle/>
          <a:p>
            <a:pPr indent="0" marL="0">
              <a:buNone/>
            </a:pPr>
            <a:r>
              <a:rPr lang="en-US" sz="1100" dirty="0">
                <a:solidFill>
                  <a:srgbClr val="F4F1E8"/>
                </a:solidFill>
                <a:latin typeface="Calibri" pitchFamily="34" charset="0"/>
                <a:ea typeface="Calibri" pitchFamily="34" charset="-122"/>
                <a:cs typeface="Calibri" pitchFamily="34" charset="-120"/>
              </a:rPr>
              <a:t>Super Bowl (Feb) + Cinco de Mayo (May) are the two biggest demand spikes. Prices peak Aug–Oct with summer grilling.</a:t>
            </a:r>
            <a:endParaRPr lang="en-US" sz="1100" dirty="0"/>
          </a:p>
        </p:txBody>
      </p:sp>
      <p:sp>
        <p:nvSpPr>
          <p:cNvPr id="19" name="Shape 17"/>
          <p:cNvSpPr/>
          <p:nvPr/>
        </p:nvSpPr>
        <p:spPr>
          <a:xfrm>
            <a:off x="4846320" y="2286000"/>
            <a:ext cx="4114800" cy="1143000"/>
          </a:xfrm>
          <a:prstGeom prst="rect">
            <a:avLst/>
          </a:prstGeom>
          <a:solidFill>
            <a:srgbClr val="2C6E3F">
              <a:alpha val="80000"/>
            </a:srgbClr>
          </a:solidFill>
          <a:ln w="12700">
            <a:solidFill>
              <a:srgbClr val="5A9A4A"/>
            </a:solidFill>
            <a:prstDash val="solid"/>
          </a:ln>
        </p:spPr>
      </p:sp>
      <p:sp>
        <p:nvSpPr>
          <p:cNvPr id="20" name="Text 18"/>
          <p:cNvSpPr/>
          <p:nvPr/>
        </p:nvSpPr>
        <p:spPr>
          <a:xfrm>
            <a:off x="4937760" y="2359152"/>
            <a:ext cx="502920" cy="502920"/>
          </a:xfrm>
          <a:prstGeom prst="rect">
            <a:avLst/>
          </a:prstGeom>
          <a:noFill/>
          <a:ln/>
        </p:spPr>
        <p:txBody>
          <a:bodyPr wrap="square" lIns="0" tIns="0" rIns="0" bIns="0" rtlCol="0" anchor="ctr"/>
          <a:lstStyle/>
          <a:p>
            <a:pPr indent="0" marL="0">
              <a:buNone/>
            </a:pPr>
            <a:r>
              <a:rPr lang="en-US" sz="2200" b="1" dirty="0">
                <a:solidFill>
                  <a:srgbClr val="8FBF4D"/>
                </a:solidFill>
                <a:latin typeface="Calibri" pitchFamily="34" charset="0"/>
                <a:ea typeface="Calibri" pitchFamily="34" charset="-122"/>
                <a:cs typeface="Calibri" pitchFamily="34" charset="-120"/>
              </a:rPr>
              <a:t>05</a:t>
            </a:r>
            <a:endParaRPr lang="en-US" sz="2200" dirty="0"/>
          </a:p>
        </p:txBody>
      </p:sp>
      <p:sp>
        <p:nvSpPr>
          <p:cNvPr id="21" name="Text 19"/>
          <p:cNvSpPr/>
          <p:nvPr/>
        </p:nvSpPr>
        <p:spPr>
          <a:xfrm>
            <a:off x="5486400" y="2377440"/>
            <a:ext cx="3383280" cy="320040"/>
          </a:xfrm>
          <a:prstGeom prst="rect">
            <a:avLst/>
          </a:prstGeom>
          <a:noFill/>
          <a:ln/>
        </p:spPr>
        <p:txBody>
          <a:bodyPr wrap="square" lIns="0" tIns="0" rIns="0" bIns="0" rtlCol="0" anchor="ctr"/>
          <a:lstStyle/>
          <a:p>
            <a:pPr indent="0" marL="0">
              <a:buNone/>
            </a:pPr>
            <a:r>
              <a:rPr lang="en-US" sz="1300" b="1" dirty="0">
                <a:solidFill>
                  <a:srgbClr val="8FBF4D"/>
                </a:solidFill>
                <a:latin typeface="Calibri" pitchFamily="34" charset="0"/>
                <a:ea typeface="Calibri" pitchFamily="34" charset="-122"/>
                <a:cs typeface="Calibri" pitchFamily="34" charset="-120"/>
              </a:rPr>
              <a:t>Regional Pricing Gaps</a:t>
            </a:r>
            <a:endParaRPr lang="en-US" sz="1300" dirty="0"/>
          </a:p>
        </p:txBody>
      </p:sp>
      <p:sp>
        <p:nvSpPr>
          <p:cNvPr id="22" name="Text 20"/>
          <p:cNvSpPr/>
          <p:nvPr/>
        </p:nvSpPr>
        <p:spPr>
          <a:xfrm>
            <a:off x="5486400" y="2724912"/>
            <a:ext cx="3383280" cy="594360"/>
          </a:xfrm>
          <a:prstGeom prst="rect">
            <a:avLst/>
          </a:prstGeom>
          <a:noFill/>
          <a:ln/>
        </p:spPr>
        <p:txBody>
          <a:bodyPr wrap="square" lIns="0" tIns="0" rIns="0" bIns="0" rtlCol="0" anchor="ctr"/>
          <a:lstStyle/>
          <a:p>
            <a:pPr indent="0" marL="0">
              <a:buNone/>
            </a:pPr>
            <a:r>
              <a:rPr lang="en-US" sz="1100" dirty="0">
                <a:solidFill>
                  <a:srgbClr val="F4F1E8"/>
                </a:solidFill>
                <a:latin typeface="Calibri" pitchFamily="34" charset="0"/>
                <a:ea typeface="Calibri" pitchFamily="34" charset="-122"/>
                <a:cs typeface="Calibri" pitchFamily="34" charset="-120"/>
              </a:rPr>
              <a:t>Northeast pays a premium (Hartford, NY, Philly). West Coast benefits from proximity to California farms.</a:t>
            </a:r>
            <a:endParaRPr lang="en-US" sz="1100" dirty="0"/>
          </a:p>
        </p:txBody>
      </p:sp>
      <p:sp>
        <p:nvSpPr>
          <p:cNvPr id="23" name="Shape 21"/>
          <p:cNvSpPr/>
          <p:nvPr/>
        </p:nvSpPr>
        <p:spPr>
          <a:xfrm>
            <a:off x="4846320" y="3520440"/>
            <a:ext cx="4114800" cy="1143000"/>
          </a:xfrm>
          <a:prstGeom prst="rect">
            <a:avLst/>
          </a:prstGeom>
          <a:solidFill>
            <a:srgbClr val="2C6E3F">
              <a:alpha val="80000"/>
            </a:srgbClr>
          </a:solidFill>
          <a:ln w="12700">
            <a:solidFill>
              <a:srgbClr val="5A9A4A"/>
            </a:solidFill>
            <a:prstDash val="solid"/>
          </a:ln>
        </p:spPr>
      </p:sp>
      <p:sp>
        <p:nvSpPr>
          <p:cNvPr id="24" name="Text 22"/>
          <p:cNvSpPr/>
          <p:nvPr/>
        </p:nvSpPr>
        <p:spPr>
          <a:xfrm>
            <a:off x="4937760" y="3593592"/>
            <a:ext cx="502920" cy="502920"/>
          </a:xfrm>
          <a:prstGeom prst="rect">
            <a:avLst/>
          </a:prstGeom>
          <a:noFill/>
          <a:ln/>
        </p:spPr>
        <p:txBody>
          <a:bodyPr wrap="square" lIns="0" tIns="0" rIns="0" bIns="0" rtlCol="0" anchor="ctr"/>
          <a:lstStyle/>
          <a:p>
            <a:pPr indent="0" marL="0">
              <a:buNone/>
            </a:pPr>
            <a:r>
              <a:rPr lang="en-US" sz="2200" b="1" dirty="0">
                <a:solidFill>
                  <a:srgbClr val="8FBF4D"/>
                </a:solidFill>
                <a:latin typeface="Calibri" pitchFamily="34" charset="0"/>
                <a:ea typeface="Calibri" pitchFamily="34" charset="-122"/>
                <a:cs typeface="Calibri" pitchFamily="34" charset="-120"/>
              </a:rPr>
              <a:t>06</a:t>
            </a:r>
            <a:endParaRPr lang="en-US" sz="2200" dirty="0"/>
          </a:p>
        </p:txBody>
      </p:sp>
      <p:sp>
        <p:nvSpPr>
          <p:cNvPr id="25" name="Text 23"/>
          <p:cNvSpPr/>
          <p:nvPr/>
        </p:nvSpPr>
        <p:spPr>
          <a:xfrm>
            <a:off x="5486400" y="3611880"/>
            <a:ext cx="3383280" cy="320040"/>
          </a:xfrm>
          <a:prstGeom prst="rect">
            <a:avLst/>
          </a:prstGeom>
          <a:noFill/>
          <a:ln/>
        </p:spPr>
        <p:txBody>
          <a:bodyPr wrap="square" lIns="0" tIns="0" rIns="0" bIns="0" rtlCol="0" anchor="ctr"/>
          <a:lstStyle/>
          <a:p>
            <a:pPr indent="0" marL="0">
              <a:buNone/>
            </a:pPr>
            <a:r>
              <a:rPr lang="en-US" sz="1300" b="1" dirty="0">
                <a:solidFill>
                  <a:srgbClr val="8FBF4D"/>
                </a:solidFill>
                <a:latin typeface="Calibri" pitchFamily="34" charset="0"/>
                <a:ea typeface="Calibri" pitchFamily="34" charset="-122"/>
                <a:cs typeface="Calibri" pitchFamily="34" charset="-120"/>
              </a:rPr>
              <a:t>Volume Growing</a:t>
            </a:r>
            <a:endParaRPr lang="en-US" sz="1300" dirty="0"/>
          </a:p>
        </p:txBody>
      </p:sp>
      <p:sp>
        <p:nvSpPr>
          <p:cNvPr id="26" name="Text 24"/>
          <p:cNvSpPr/>
          <p:nvPr/>
        </p:nvSpPr>
        <p:spPr>
          <a:xfrm>
            <a:off x="5486400" y="3959352"/>
            <a:ext cx="3383280" cy="594360"/>
          </a:xfrm>
          <a:prstGeom prst="rect">
            <a:avLst/>
          </a:prstGeom>
          <a:noFill/>
          <a:ln/>
        </p:spPr>
        <p:txBody>
          <a:bodyPr wrap="square" lIns="0" tIns="0" rIns="0" bIns="0" rtlCol="0" anchor="ctr"/>
          <a:lstStyle/>
          <a:p>
            <a:pPr indent="0" marL="0">
              <a:buNone/>
            </a:pPr>
            <a:r>
              <a:rPr lang="en-US" sz="1100" dirty="0">
                <a:solidFill>
                  <a:srgbClr val="F4F1E8"/>
                </a:solidFill>
                <a:latin typeface="Calibri" pitchFamily="34" charset="0"/>
                <a:ea typeface="Calibri" pitchFamily="34" charset="-122"/>
                <a:cs typeface="Calibri" pitchFamily="34" charset="-120"/>
              </a:rPr>
              <a:t>Total volume grew from 4.4B (2015) to 4.9B (2017) units, reflecting mainstream avocado adoption in the U.S.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3A2A"/>
        </a:solidFill>
      </p:bgPr>
    </p:bg>
    <p:spTree>
      <p:nvGrpSpPr>
        <p:cNvPr id="1" name=""/>
        <p:cNvGrpSpPr/>
        <p:nvPr/>
      </p:nvGrpSpPr>
      <p:grpSpPr>
        <a:xfrm>
          <a:off x="0" y="0"/>
          <a:ext cx="0" cy="0"/>
          <a:chOff x="0" y="0"/>
          <a:chExt cx="0" cy="0"/>
        </a:xfrm>
      </p:grpSpPr>
      <p:sp>
        <p:nvSpPr>
          <p:cNvPr id="2" name="Shape 0"/>
          <p:cNvSpPr/>
          <p:nvPr/>
        </p:nvSpPr>
        <p:spPr>
          <a:xfrm>
            <a:off x="2743200" y="457200"/>
            <a:ext cx="3657600" cy="3657600"/>
          </a:xfrm>
          <a:prstGeom prst="ellipse">
            <a:avLst/>
          </a:prstGeom>
          <a:solidFill>
            <a:srgbClr val="2C6E3F">
              <a:alpha val="30000"/>
            </a:srgbClr>
          </a:solidFill>
          <a:ln w="12700">
            <a:solidFill>
              <a:srgbClr val="2C6E3F"/>
            </a:solidFill>
            <a:prstDash val="solid"/>
          </a:ln>
        </p:spPr>
      </p:sp>
      <p:sp>
        <p:nvSpPr>
          <p:cNvPr id="3" name="Text 1"/>
          <p:cNvSpPr/>
          <p:nvPr/>
        </p:nvSpPr>
        <p:spPr>
          <a:xfrm>
            <a:off x="3474720" y="731520"/>
            <a:ext cx="2286000" cy="2286000"/>
          </a:xfrm>
          <a:prstGeom prst="rect">
            <a:avLst/>
          </a:prstGeom>
          <a:noFill/>
          <a:ln/>
        </p:spPr>
        <p:txBody>
          <a:bodyPr wrap="square" rtlCol="0" anchor="ctr"/>
          <a:lstStyle/>
          <a:p>
            <a:pPr algn="ctr" indent="0" marL="0">
              <a:buNone/>
            </a:pPr>
            <a:r>
              <a:rPr lang="en-US" sz="9000" dirty="0">
                <a:solidFill>
                  <a:srgbClr val="000000"/>
                </a:solidFill>
              </a:rPr>
              <a:t>🥑</a:t>
            </a:r>
            <a:endParaRPr lang="en-US" sz="9000" dirty="0"/>
          </a:p>
        </p:txBody>
      </p:sp>
      <p:sp>
        <p:nvSpPr>
          <p:cNvPr id="4" name="Text 2"/>
          <p:cNvSpPr/>
          <p:nvPr/>
        </p:nvSpPr>
        <p:spPr>
          <a:xfrm>
            <a:off x="731520" y="3017520"/>
            <a:ext cx="7680960" cy="502920"/>
          </a:xfrm>
          <a:prstGeom prst="rect">
            <a:avLst/>
          </a:prstGeom>
          <a:noFill/>
          <a:ln/>
        </p:spPr>
        <p:txBody>
          <a:bodyPr wrap="square" lIns="0" tIns="0" rIns="0" bIns="0" rtlCol="0" anchor="ctr"/>
          <a:lstStyle/>
          <a:p>
            <a:pPr algn="ctr" indent="0" marL="0">
              <a:buNone/>
            </a:pPr>
            <a:r>
              <a:rPr lang="en-US" sz="2200" i="1" dirty="0">
                <a:solidFill>
                  <a:srgbClr val="F4F1E8"/>
                </a:solidFill>
                <a:latin typeface="Calibri" pitchFamily="34" charset="0"/>
                <a:ea typeface="Calibri" pitchFamily="34" charset="-122"/>
                <a:cs typeface="Calibri" pitchFamily="34" charset="-120"/>
              </a:rPr>
              <a:t>The U.S. avocado market is</a:t>
            </a:r>
            <a:endParaRPr lang="en-US" sz="2200" dirty="0"/>
          </a:p>
        </p:txBody>
      </p:sp>
      <p:sp>
        <p:nvSpPr>
          <p:cNvPr id="5" name="Text 3"/>
          <p:cNvSpPr/>
          <p:nvPr/>
        </p:nvSpPr>
        <p:spPr>
          <a:xfrm>
            <a:off x="457200" y="3566160"/>
            <a:ext cx="8229600" cy="640080"/>
          </a:xfrm>
          <a:prstGeom prst="rect">
            <a:avLst/>
          </a:prstGeom>
          <a:noFill/>
          <a:ln/>
        </p:spPr>
        <p:txBody>
          <a:bodyPr wrap="square" lIns="0" tIns="0" rIns="0" bIns="0" rtlCol="0" anchor="ctr"/>
          <a:lstStyle/>
          <a:p>
            <a:pPr algn="ctr" indent="0" marL="0">
              <a:buNone/>
            </a:pPr>
            <a:r>
              <a:rPr lang="en-US" sz="2200" b="1" spc="200" kern="0" dirty="0">
                <a:solidFill>
                  <a:srgbClr val="8FBF4D"/>
                </a:solidFill>
                <a:latin typeface="Calibri" pitchFamily="34" charset="0"/>
                <a:ea typeface="Calibri" pitchFamily="34" charset="-122"/>
                <a:cs typeface="Calibri" pitchFamily="34" charset="-120"/>
              </a:rPr>
              <a:t>RESILIENT, GROWING &amp; FULL OF OPPORTUNITY</a:t>
            </a:r>
            <a:endParaRPr lang="en-US" sz="2200" dirty="0"/>
          </a:p>
        </p:txBody>
      </p:sp>
      <p:sp>
        <p:nvSpPr>
          <p:cNvPr id="6" name="Text 4"/>
          <p:cNvSpPr/>
          <p:nvPr/>
        </p:nvSpPr>
        <p:spPr>
          <a:xfrm>
            <a:off x="914400" y="4251960"/>
            <a:ext cx="7315200" cy="457200"/>
          </a:xfrm>
          <a:prstGeom prst="rect">
            <a:avLst/>
          </a:prstGeom>
          <a:noFill/>
          <a:ln/>
        </p:spPr>
        <p:txBody>
          <a:bodyPr wrap="square" lIns="0" tIns="0" rIns="0" bIns="0" rtlCol="0" anchor="ctr"/>
          <a:lstStyle/>
          <a:p>
            <a:pPr algn="ctr" indent="0" marL="0">
              <a:buNone/>
            </a:pPr>
            <a:r>
              <a:rPr lang="en-US" sz="1300" i="1" dirty="0">
                <a:solidFill>
                  <a:srgbClr val="5A9A4A"/>
                </a:solidFill>
                <a:latin typeface="Calibri" pitchFamily="34" charset="0"/>
                <a:ea typeface="Calibri" pitchFamily="34" charset="-122"/>
                <a:cs typeface="Calibri" pitchFamily="34" charset="-120"/>
              </a:rPr>
              <a:t>for retailers who understand seasonal demand, regional pricing, and the organic premium.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Avocado Market Analysis</dc:title>
  <dc:subject>PptxGenJS Presentation</dc:subject>
  <dc:creator>PptxGenJS</dc:creator>
  <cp:lastModifiedBy>PptxGenJS</cp:lastModifiedBy>
  <cp:revision>1</cp:revision>
  <dcterms:created xsi:type="dcterms:W3CDTF">2026-04-17T08:26:09Z</dcterms:created>
  <dcterms:modified xsi:type="dcterms:W3CDTF">2026-04-17T08:26:09Z</dcterms:modified>
</cp:coreProperties>
</file>